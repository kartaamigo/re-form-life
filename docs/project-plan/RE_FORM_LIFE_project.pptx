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c4d29f9714599" /><Relationship Type="http://schemas.openxmlformats.org/officeDocument/2006/relationships/extended-properties" Target="/docProps/app.xml" Id="Rb2a8580010c044f1" /><Relationship Type="http://schemas.openxmlformats.org/officeDocument/2006/relationships/officeDocument" Target="/ppt/presentation.xml" Id="R15f425a666e14f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421722f19c4c0e"/>
  </p:sldMasterIdLst>
  <p:notesMasterIdLst>
    <p:notesMasterId xmlns:r="http://schemas.openxmlformats.org/officeDocument/2006/relationships" r:id="R3c1aba3194c343ab"/>
  </p:notesMasterIdLst>
  <p:sldIdLst>
    <p:sldId xmlns:r="http://schemas.openxmlformats.org/officeDocument/2006/relationships" id="256" r:id="Re7d70310501b4fc0"/>
    <p:sldId xmlns:r="http://schemas.openxmlformats.org/officeDocument/2006/relationships" id="257" r:id="R26b0ab38cf734fe1"/>
    <p:sldId xmlns:r="http://schemas.openxmlformats.org/officeDocument/2006/relationships" id="258" r:id="Rb2cdd3bf2809470f"/>
    <p:sldId xmlns:r="http://schemas.openxmlformats.org/officeDocument/2006/relationships" id="259" r:id="R5e0aeb6d95b44335"/>
    <p:sldId xmlns:r="http://schemas.openxmlformats.org/officeDocument/2006/relationships" id="260" r:id="R412e1dfc3d864828"/>
    <p:sldId xmlns:r="http://schemas.openxmlformats.org/officeDocument/2006/relationships" id="261" r:id="Raf8b8803fbc64cd2"/>
    <p:sldId xmlns:r="http://schemas.openxmlformats.org/officeDocument/2006/relationships" id="262" r:id="R4776d0261c744010"/>
    <p:sldId xmlns:r="http://schemas.openxmlformats.org/officeDocument/2006/relationships" id="263" r:id="R9338c00b91134c23"/>
    <p:sldId xmlns:r="http://schemas.openxmlformats.org/officeDocument/2006/relationships" id="264" r:id="R56e700d477714faf"/>
    <p:sldId xmlns:r="http://schemas.openxmlformats.org/officeDocument/2006/relationships" id="265" r:id="R245260c650c3423c"/>
    <p:sldId xmlns:r="http://schemas.openxmlformats.org/officeDocument/2006/relationships" id="266" r:id="Re57af372a0e3487b"/>
    <p:sldId xmlns:r="http://schemas.openxmlformats.org/officeDocument/2006/relationships" id="267" r:id="R8207eb914a444e9b"/>
    <p:sldId xmlns:r="http://schemas.openxmlformats.org/officeDocument/2006/relationships" id="268" r:id="Rba98cca04fc94ed2"/>
    <p:sldId xmlns:r="http://schemas.openxmlformats.org/officeDocument/2006/relationships" id="269" r:id="Rfea82e75fe32496e"/>
    <p:sldId xmlns:r="http://schemas.openxmlformats.org/officeDocument/2006/relationships" id="270" r:id="Re9309aa5874a4a07"/>
    <p:sldId xmlns:r="http://schemas.openxmlformats.org/officeDocument/2006/relationships" id="271" r:id="Ra711415c61d142b1"/>
    <p:sldId xmlns:r="http://schemas.openxmlformats.org/officeDocument/2006/relationships" id="272" r:id="R387eed6d20044349"/>
    <p:sldId xmlns:r="http://schemas.openxmlformats.org/officeDocument/2006/relationships" id="273" r:id="R0489ca7c489f44aa"/>
    <p:sldId xmlns:r="http://schemas.openxmlformats.org/officeDocument/2006/relationships" id="274" r:id="R030f009c9e444c94"/>
    <p:sldId xmlns:r="http://schemas.openxmlformats.org/officeDocument/2006/relationships" id="275" r:id="R53692d30dc8743dd"/>
    <p:sldId xmlns:r="http://schemas.openxmlformats.org/officeDocument/2006/relationships" id="276" r:id="Ree3ed55e6c30437d"/>
    <p:sldId xmlns:r="http://schemas.openxmlformats.org/officeDocument/2006/relationships" id="277" r:id="R3053046c73db42cf"/>
    <p:sldId xmlns:r="http://schemas.openxmlformats.org/officeDocument/2006/relationships" id="278" r:id="R0581a56f09814c1b"/>
    <p:sldId xmlns:r="http://schemas.openxmlformats.org/officeDocument/2006/relationships" id="279" r:id="R3b79e0f00ae74548"/>
    <p:sldId xmlns:r="http://schemas.openxmlformats.org/officeDocument/2006/relationships" id="280" r:id="Rdf0cb14372d54a9f"/>
    <p:sldId xmlns:r="http://schemas.openxmlformats.org/officeDocument/2006/relationships" id="281" r:id="R5a90d64da40344c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c9869369c342e1" /><Relationship Type="http://schemas.openxmlformats.org/officeDocument/2006/relationships/slideMaster" Target="/ppt/slideMasters/slideMaster1.xml" Id="R1c421722f19c4c0e" /><Relationship Type="http://schemas.openxmlformats.org/officeDocument/2006/relationships/notesMaster" Target="/ppt/notesMasters/notesMaster1.xml" Id="R3c1aba3194c343ab" /><Relationship Type="http://schemas.openxmlformats.org/officeDocument/2006/relationships/presProps" Target="/ppt/presProps.xml" Id="Ra2d697246f2a495e" /><Relationship Type="http://schemas.openxmlformats.org/officeDocument/2006/relationships/tableStyles" Target="/ppt/tableStyles.xml" Id="Rdb51ef1c10d640a8" /><Relationship Type="http://schemas.openxmlformats.org/officeDocument/2006/relationships/slide" Target="/ppt/slides/slide1.xml" Id="Re7d70310501b4fc0" /><Relationship Type="http://schemas.openxmlformats.org/officeDocument/2006/relationships/slide" Target="/ppt/slides/slide2.xml" Id="R26b0ab38cf734fe1" /><Relationship Type="http://schemas.openxmlformats.org/officeDocument/2006/relationships/slide" Target="/ppt/slides/slide3.xml" Id="Rb2cdd3bf2809470f" /><Relationship Type="http://schemas.openxmlformats.org/officeDocument/2006/relationships/slide" Target="/ppt/slides/slide4.xml" Id="R5e0aeb6d95b44335" /><Relationship Type="http://schemas.openxmlformats.org/officeDocument/2006/relationships/slide" Target="/ppt/slides/slide5.xml" Id="R412e1dfc3d864828" /><Relationship Type="http://schemas.openxmlformats.org/officeDocument/2006/relationships/slide" Target="/ppt/slides/slide6.xml" Id="Raf8b8803fbc64cd2" /><Relationship Type="http://schemas.openxmlformats.org/officeDocument/2006/relationships/slide" Target="/ppt/slides/slide7.xml" Id="R4776d0261c744010" /><Relationship Type="http://schemas.openxmlformats.org/officeDocument/2006/relationships/slide" Target="/ppt/slides/slide8.xml" Id="R9338c00b91134c23" /><Relationship Type="http://schemas.openxmlformats.org/officeDocument/2006/relationships/slide" Target="/ppt/slides/slide9.xml" Id="R56e700d477714faf" /><Relationship Type="http://schemas.openxmlformats.org/officeDocument/2006/relationships/slide" Target="/ppt/slides/slide10.xml" Id="R245260c650c3423c" /><Relationship Type="http://schemas.openxmlformats.org/officeDocument/2006/relationships/slide" Target="/ppt/slides/slide11.xml" Id="Re57af372a0e3487b" /><Relationship Type="http://schemas.openxmlformats.org/officeDocument/2006/relationships/slide" Target="/ppt/slides/slide12.xml" Id="R8207eb914a444e9b" /><Relationship Type="http://schemas.openxmlformats.org/officeDocument/2006/relationships/slide" Target="/ppt/slides/slide13.xml" Id="Rba98cca04fc94ed2" /><Relationship Type="http://schemas.openxmlformats.org/officeDocument/2006/relationships/slide" Target="/ppt/slides/slide14.xml" Id="Rfea82e75fe32496e" /><Relationship Type="http://schemas.openxmlformats.org/officeDocument/2006/relationships/slide" Target="/ppt/slides/slide15.xml" Id="Re9309aa5874a4a07" /><Relationship Type="http://schemas.openxmlformats.org/officeDocument/2006/relationships/slide" Target="/ppt/slides/slide16.xml" Id="Ra711415c61d142b1" /><Relationship Type="http://schemas.openxmlformats.org/officeDocument/2006/relationships/slide" Target="/ppt/slides/slide17.xml" Id="R387eed6d20044349" /><Relationship Type="http://schemas.openxmlformats.org/officeDocument/2006/relationships/slide" Target="/ppt/slides/slide18.xml" Id="R0489ca7c489f44aa" /><Relationship Type="http://schemas.openxmlformats.org/officeDocument/2006/relationships/slide" Target="/ppt/slides/slide19.xml" Id="R030f009c9e444c94" /><Relationship Type="http://schemas.openxmlformats.org/officeDocument/2006/relationships/slide" Target="/ppt/slides/slide20.xml" Id="R53692d30dc8743dd" /><Relationship Type="http://schemas.openxmlformats.org/officeDocument/2006/relationships/slide" Target="/ppt/slides/slide21.xml" Id="Ree3ed55e6c30437d" /><Relationship Type="http://schemas.openxmlformats.org/officeDocument/2006/relationships/slide" Target="/ppt/slides/slide22.xml" Id="R3053046c73db42cf" /><Relationship Type="http://schemas.openxmlformats.org/officeDocument/2006/relationships/slide" Target="/ppt/slides/slide23.xml" Id="R0581a56f09814c1b" /><Relationship Type="http://schemas.openxmlformats.org/officeDocument/2006/relationships/slide" Target="/ppt/slides/slide24.xml" Id="R3b79e0f00ae74548" /><Relationship Type="http://schemas.openxmlformats.org/officeDocument/2006/relationships/slide" Target="/ppt/slides/slide25.xml" Id="Rdf0cb14372d54a9f" /><Relationship Type="http://schemas.openxmlformats.org/officeDocument/2006/relationships/slide" Target="/ppt/slides/slide26.xml" Id="R5a90d64da40344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8d2ba73b2d49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62c972e8be4467" /><Relationship Type="http://schemas.openxmlformats.org/officeDocument/2006/relationships/notesMaster" Target="/ppt/notesMasters/notesMaster1.xml" Id="R96b53bc2c5b1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c9cbbdd4e44a4b" /><Relationship Type="http://schemas.openxmlformats.org/officeDocument/2006/relationships/notesMaster" Target="/ppt/notesMasters/notesMaster1.xml" Id="Re6d36f7fa8af41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bd066bae9d421b" /><Relationship Type="http://schemas.openxmlformats.org/officeDocument/2006/relationships/notesMaster" Target="/ppt/notesMasters/notesMaster1.xml" Id="R5e21d1849e4843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1393df2537407b" /><Relationship Type="http://schemas.openxmlformats.org/officeDocument/2006/relationships/notesMaster" Target="/ppt/notesMasters/notesMaster1.xml" Id="R6ae2a059e3ec44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4d60099c5b47b6" /><Relationship Type="http://schemas.openxmlformats.org/officeDocument/2006/relationships/notesMaster" Target="/ppt/notesMasters/notesMaster1.xml" Id="R65a9e38e72494b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4fdbf7828b4e80" /><Relationship Type="http://schemas.openxmlformats.org/officeDocument/2006/relationships/notesMaster" Target="/ppt/notesMasters/notesMaster1.xml" Id="Rcfb92828ac294b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00d2d71679464f" /><Relationship Type="http://schemas.openxmlformats.org/officeDocument/2006/relationships/notesMaster" Target="/ppt/notesMasters/notesMaster1.xml" Id="R41f79f718bf240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309fd1b4f24543" /><Relationship Type="http://schemas.openxmlformats.org/officeDocument/2006/relationships/notesMaster" Target="/ppt/notesMasters/notesMaster1.xml" Id="R4c7a9fb8e15940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a610108ff84aed" /><Relationship Type="http://schemas.openxmlformats.org/officeDocument/2006/relationships/notesMaster" Target="/ppt/notesMasters/notesMaster1.xml" Id="R906b39b4fba144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3b11a5e2704328" /><Relationship Type="http://schemas.openxmlformats.org/officeDocument/2006/relationships/notesMaster" Target="/ppt/notesMasters/notesMaster1.xml" Id="R715270b424fb4b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0b300d9750470c" /><Relationship Type="http://schemas.openxmlformats.org/officeDocument/2006/relationships/notesMaster" Target="/ppt/notesMasters/notesMaster1.xml" Id="Rc46e2032e9584a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bf1d7f403c41d3" /><Relationship Type="http://schemas.openxmlformats.org/officeDocument/2006/relationships/notesMaster" Target="/ppt/notesMasters/notesMaster1.xml" Id="Rbb80e781301c4c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78be0c657645f2" /><Relationship Type="http://schemas.openxmlformats.org/officeDocument/2006/relationships/notesMaster" Target="/ppt/notesMasters/notesMaster1.xml" Id="R3eeac8b9e7ad40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1a6ecea1674409" /><Relationship Type="http://schemas.openxmlformats.org/officeDocument/2006/relationships/notesMaster" Target="/ppt/notesMasters/notesMaster1.xml" Id="Rddb8b424aa0a47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26edcefd9f4ecd" /><Relationship Type="http://schemas.openxmlformats.org/officeDocument/2006/relationships/notesMaster" Target="/ppt/notesMasters/notesMaster1.xml" Id="R791947bfdcdb42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5423dae3ebe4ab8" /><Relationship Type="http://schemas.openxmlformats.org/officeDocument/2006/relationships/notesMaster" Target="/ppt/notesMasters/notesMaster1.xml" Id="R0ae327e9c9034a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2ccdfc93c94c84" /><Relationship Type="http://schemas.openxmlformats.org/officeDocument/2006/relationships/notesMaster" Target="/ppt/notesMasters/notesMaster1.xml" Id="Rae0c6b9353cc4c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774a12ba934d0f" /><Relationship Type="http://schemas.openxmlformats.org/officeDocument/2006/relationships/notesMaster" Target="/ppt/notesMasters/notesMaster1.xml" Id="R629b0ebcf7414f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596dab693e4920" /><Relationship Type="http://schemas.openxmlformats.org/officeDocument/2006/relationships/notesMaster" Target="/ppt/notesMasters/notesMaster1.xml" Id="R9c284e6ec2ea41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d7be7559e04c67" /><Relationship Type="http://schemas.openxmlformats.org/officeDocument/2006/relationships/notesMaster" Target="/ppt/notesMasters/notesMaster1.xml" Id="R0991eb5502424d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b6a53ea366496d" /><Relationship Type="http://schemas.openxmlformats.org/officeDocument/2006/relationships/notesMaster" Target="/ppt/notesMasters/notesMaster1.xml" Id="Rfd57e817b0044b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dc1eb4aeaf4972" /><Relationship Type="http://schemas.openxmlformats.org/officeDocument/2006/relationships/notesMaster" Target="/ppt/notesMasters/notesMaster1.xml" Id="R9f5a14d746eb43b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e0c0fb860e94ed5" /><Relationship Type="http://schemas.openxmlformats.org/officeDocument/2006/relationships/notesMaster" Target="/ppt/notesMasters/notesMaster1.xml" Id="R606b8ea1e9174da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b84097fe0b3407e" /><Relationship Type="http://schemas.openxmlformats.org/officeDocument/2006/relationships/notesMaster" Target="/ppt/notesMasters/notesMaster1.xml" Id="R073d4c0e1c364a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25c7b41b294ba4" /><Relationship Type="http://schemas.openxmlformats.org/officeDocument/2006/relationships/notesMaster" Target="/ppt/notesMasters/notesMaster1.xml" Id="R7e4521ca169c4a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c84498316a44026" /><Relationship Type="http://schemas.openxmlformats.org/officeDocument/2006/relationships/notesMaster" Target="/ppt/notesMasters/notesMaster1.xml" Id="R65c21223481b47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F:/RE_FORM/презентация.pdf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F:/RE_FORM/презентация.pdf</a:t>
            </a:r>
          </a:p>
          <a:p xmlns:a="http://schemas.openxmlformats.org/drawingml/2006/main">
            <a:r>
              <a:t>F:/RE-FORM-LIFE/docs/PRODUCT.md; requirements.txt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https://todoist.com/pricing</a:t>
            </a:r>
          </a:p>
          <a:p xmlns:a="http://schemas.openxmlformats.org/drawingml/2006/main">
            <a:r>
              <a:t>https://ticktick.com/about/upgrade</a:t>
            </a:r>
          </a:p>
          <a:p xmlns:a="http://schemas.openxmlformats.org/drawingml/2006/main">
            <a:r>
              <a:t>https://www.notion.com/pricing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F:/RE_FORM/презентация.pdf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F:/RE-FORM-LIFE/docs/PRODUCT.md; requirements.txt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F:/RE_FORM/презентация.pdf</a:t>
            </a:r>
          </a:p>
          <a:p xmlns:a="http://schemas.openxmlformats.org/drawingml/2006/main">
            <a:r>
              <a:t>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C:/Users/1/Downloads/напишите еще про метод приоритезации плзз.pdf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C:/Users/1/Downloads/напишите еще про метод приоритезации плзз.pdf</a:t>
            </a:r>
          </a:p>
          <a:p xmlns:a="http://schemas.openxmlformats.org/drawingml/2006/main">
            <a:r>
              <a:t>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F:/RE_FORM/презентация.pdf</a:t>
            </a:r>
          </a:p>
          <a:p xmlns:a="http://schemas.openxmlformats.org/drawingml/2006/main">
            <a:r>
              <a:t>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F:/RE-FORM-LIFE/docs/PRODUCT.md; requirements.txt</a:t>
            </a:r>
          </a:p>
          <a:p xmlns:a="http://schemas.openxmlformats.org/drawingml/2006/main">
            <a:r>
              <a:t>https://sqlite.org/copyright.html</a:t>
            </a:r>
          </a:p>
          <a:p xmlns:a="http://schemas.openxmlformats.org/drawingml/2006/main">
            <a:r>
              <a:t>https://code.visualstudio.com/license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C:/Users/1/Downloads/план реформ 5.pdf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F:/RE_FORM/презентация.pdf</a:t>
            </a:r>
          </a:p>
          <a:p xmlns:a="http://schemas.openxmlformats.org/drawingml/2006/main">
            <a:r>
              <a:t>C:/Users/1/Downloads/план реформ 5.pdf</a:t>
            </a:r>
          </a:p>
          <a:p xmlns:a="http://schemas.openxmlformats.org/drawingml/2006/main">
            <a:r>
              <a:t>C:/Users/1/Downloads/напишите еще про метод приоритезации плзз.pdf</a:t>
            </a:r>
          </a:p>
          <a:p xmlns:a="http://schemas.openxmlformats.org/drawingml/2006/main">
            <a:r>
              <a:t>F:/RE-FORM-LIFE/docs/PRODUCT.md; requirements.txt</a:t>
            </a:r>
          </a:p>
          <a:p xmlns:a="http://schemas.openxmlformats.org/drawingml/2006/main">
            <a:r>
              <a:t>https://todoist.com/pricing</a:t>
            </a:r>
          </a:p>
          <a:p xmlns:a="http://schemas.openxmlformats.org/drawingml/2006/main">
            <a:r>
              <a:t>https://ticktick.com/about/upgrade</a:t>
            </a:r>
          </a:p>
          <a:p xmlns:a="http://schemas.openxmlformats.org/drawingml/2006/main">
            <a:r>
              <a:t>https://www.notion.com/pricing</a:t>
            </a:r>
          </a:p>
          <a:p xmlns:a="http://schemas.openxmlformats.org/drawingml/2006/main">
            <a:r>
              <a:t>https://sqlite.org/copyright.html</a:t>
            </a:r>
          </a:p>
          <a:p xmlns:a="http://schemas.openxmlformats.org/drawingml/2006/main">
            <a:r>
              <a:t>https://code.visualstudio.com/license</a:t>
            </a:r>
          </a:p>
          <a:p xmlns:a="http://schemas.openxmlformats.org/drawingml/2006/main">
            <a:r>
              <a:t>https://ai.google.dev/gemini-api/docs/available-regions</a:t>
            </a:r>
          </a:p>
          <a:p xmlns:a="http://schemas.openxmlformats.org/drawingml/2006/main">
            <a:r>
              <a:t>Даты и KPI — плановые цели, не фактические результаты. Роли и оценки часов для Марии и Вики — допущение для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c2b25e34a40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be1bbb1e249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3e0895b0a4b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8c35e9f8d4c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a497a85884f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70da6fa4242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79F041-FB36-4C94-ACD0-AF64636F8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86CE50-B58D-4B13-ADE3-8E5D5E1C16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6D80E8-E1CC-48EF-833F-61530A34CA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7DFB2E-3B5B-4845-A05E-1D9C5FD591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E90C01-8D6E-4326-965C-E47056A189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9C5053-D957-4423-A42E-938403B621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D3DAB6-03AE-403F-93DE-E684F868D3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FBAF4A-240A-4F2F-A8E1-0EAD424EA3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4F4AE3-2296-4600-8DA5-B89AEC10A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A5CABC-7A05-419A-A39E-1E6E7207EE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518a9580e74650" /><Relationship Type="http://schemas.openxmlformats.org/officeDocument/2006/relationships/slideLayout" Target="/ppt/slideLayouts/slideLayout1.xml" Id="R02bb0e637b934947" /><Relationship Type="http://schemas.openxmlformats.org/officeDocument/2006/relationships/slideLayout" Target="/ppt/slideLayouts/slideLayout2.xml" Id="R4ea23bd0e39b4733" /><Relationship Type="http://schemas.openxmlformats.org/officeDocument/2006/relationships/slideLayout" Target="/ppt/slideLayouts/slideLayout3.xml" Id="R1d7261d4d40e4a86" /><Relationship Type="http://schemas.openxmlformats.org/officeDocument/2006/relationships/slideLayout" Target="/ppt/slideLayouts/slideLayout4.xml" Id="R61730b5e330f4e83" /><Relationship Type="http://schemas.openxmlformats.org/officeDocument/2006/relationships/slideLayout" Target="/ppt/slideLayouts/slideLayout5.xml" Id="R95f1900c2bef41be" /><Relationship Type="http://schemas.openxmlformats.org/officeDocument/2006/relationships/slideLayout" Target="/ppt/slideLayouts/slideLayout6.xml" Id="R220c9e3d77364c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b0e637b934947"/>
    <p:sldLayoutId xmlns:r="http://schemas.openxmlformats.org/officeDocument/2006/relationships" id="2147483650" r:id="R4ea23bd0e39b4733"/>
    <p:sldLayoutId xmlns:r="http://schemas.openxmlformats.org/officeDocument/2006/relationships" id="2147483651" r:id="R1d7261d4d40e4a86"/>
    <p:sldLayoutId xmlns:r="http://schemas.openxmlformats.org/officeDocument/2006/relationships" id="2147483652" r:id="R61730b5e330f4e83"/>
    <p:sldLayoutId xmlns:r="http://schemas.openxmlformats.org/officeDocument/2006/relationships" id="2147483653" r:id="R95f1900c2bef41be"/>
    <p:sldLayoutId xmlns:r="http://schemas.openxmlformats.org/officeDocument/2006/relationships" id="2147483654" r:id="R220c9e3d77364c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0f811c4964f15" /><Relationship Type="http://schemas.openxmlformats.org/officeDocument/2006/relationships/image" Target="/ppt/media/image.png" Id="R36a4545d97504f0c" /><Relationship Type="http://schemas.openxmlformats.org/officeDocument/2006/relationships/notesSlide" Target="/ppt/notesSlides/notesSlide1.xml" Id="R13a14ab8926b4d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ac42ad91784c27" /><Relationship Type="http://schemas.openxmlformats.org/officeDocument/2006/relationships/notesSlide" Target="/ppt/notesSlides/notesSlide2.xml" Id="R1f3c320544b445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1696c734148f4" /><Relationship Type="http://schemas.openxmlformats.org/officeDocument/2006/relationships/notesSlide" Target="/ppt/notesSlides/notesSlide3.xml" Id="R75be68ddfa864e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a33a09b83456e" /><Relationship Type="http://schemas.openxmlformats.org/officeDocument/2006/relationships/notesSlide" Target="/ppt/notesSlides/notesSlide4.xml" Id="R67d4b4c4efb241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d91a5ba324f0d" /><Relationship Type="http://schemas.openxmlformats.org/officeDocument/2006/relationships/notesSlide" Target="/ppt/notesSlides/notesSlide5.xml" Id="R9169f2f2eec74e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c23477778f4701" /><Relationship Type="http://schemas.openxmlformats.org/officeDocument/2006/relationships/notesSlide" Target="/ppt/notesSlides/notesSlide6.xml" Id="R2c4dc489681c45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50e2fa0ce4581" /><Relationship Type="http://schemas.openxmlformats.org/officeDocument/2006/relationships/notesSlide" Target="/ppt/notesSlides/notesSlide7.xml" Id="R22beb69ae51e45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be35aaa044d31" /><Relationship Type="http://schemas.openxmlformats.org/officeDocument/2006/relationships/notesSlide" Target="/ppt/notesSlides/notesSlide8.xml" Id="R09114cb5219742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05a33701e4bbd" /><Relationship Type="http://schemas.openxmlformats.org/officeDocument/2006/relationships/notesSlide" Target="/ppt/notesSlides/notesSlide9.xml" Id="Rcfc5087274b640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8ab280080484d" /><Relationship Type="http://schemas.openxmlformats.org/officeDocument/2006/relationships/notesSlide" Target="/ppt/notesSlides/notesSlide10.xml" Id="R8584bd6fc6e740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32d83a1934be0" /><Relationship Type="http://schemas.openxmlformats.org/officeDocument/2006/relationships/notesSlide" Target="/ppt/notesSlides/notesSlide11.xml" Id="Rc5f7cbd262e140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0b677a88234beb" /><Relationship Type="http://schemas.openxmlformats.org/officeDocument/2006/relationships/notesSlide" Target="/ppt/notesSlides/notesSlide12.xml" Id="R553384c1e1974b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6ef6821396444d" /><Relationship Type="http://schemas.openxmlformats.org/officeDocument/2006/relationships/notesSlide" Target="/ppt/notesSlides/notesSlide13.xml" Id="Rcdc15020225545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525c90deb4fe8" /><Relationship Type="http://schemas.openxmlformats.org/officeDocument/2006/relationships/notesSlide" Target="/ppt/notesSlides/notesSlide14.xml" Id="Ra7277c6e3b7d4b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3f862d36ce4ccd" /><Relationship Type="http://schemas.openxmlformats.org/officeDocument/2006/relationships/notesSlide" Target="/ppt/notesSlides/notesSlide15.xml" Id="Ra200841b210545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73d376dbc4244" /><Relationship Type="http://schemas.openxmlformats.org/officeDocument/2006/relationships/notesSlide" Target="/ppt/notesSlides/notesSlide16.xml" Id="R3408d44966c24f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5c8f8542f4288" /><Relationship Type="http://schemas.openxmlformats.org/officeDocument/2006/relationships/notesSlide" Target="/ppt/notesSlides/notesSlide17.xml" Id="R81f898d9681d41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a8c9385514dc1" /><Relationship Type="http://schemas.openxmlformats.org/officeDocument/2006/relationships/notesSlide" Target="/ppt/notesSlides/notesSlide18.xml" Id="R96f513c8f3da43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021c4ff19437d" /><Relationship Type="http://schemas.openxmlformats.org/officeDocument/2006/relationships/notesSlide" Target="/ppt/notesSlides/notesSlide19.xml" Id="R4a0ed2e8f51649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29f597ef04929" /><Relationship Type="http://schemas.openxmlformats.org/officeDocument/2006/relationships/notesSlide" Target="/ppt/notesSlides/notesSlide20.xml" Id="Ra7ed47bed52049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fbf4f78d140da" /><Relationship Type="http://schemas.openxmlformats.org/officeDocument/2006/relationships/notesSlide" Target="/ppt/notesSlides/notesSlide21.xml" Id="R9ecbed80dda5493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34e2fe11e46fe" /><Relationship Type="http://schemas.openxmlformats.org/officeDocument/2006/relationships/notesSlide" Target="/ppt/notesSlides/notesSlide22.xml" Id="R46fb245ff540457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1986d0e9f4b0a" /><Relationship Type="http://schemas.openxmlformats.org/officeDocument/2006/relationships/notesSlide" Target="/ppt/notesSlides/notesSlide23.xml" Id="R551fcdc78aee4f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8ab2b46764259" /><Relationship Type="http://schemas.openxmlformats.org/officeDocument/2006/relationships/notesSlide" Target="/ppt/notesSlides/notesSlide24.xml" Id="R2a8db0f8d148484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3b71992e54348" /><Relationship Type="http://schemas.openxmlformats.org/officeDocument/2006/relationships/notesSlide" Target="/ppt/notesSlides/notesSlide25.xml" Id="Rda529d2e838140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8df9fe8494d5d" /><Relationship Type="http://schemas.openxmlformats.org/officeDocument/2006/relationships/notesSlide" Target="/ppt/notesSlides/notesSlide26.xml" Id="R357d07f4712444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F0B60-C2F9-4F4C-8A37-8FC1D572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05FEF-EAF4-4FC3-ABE4-E639DAE3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F1DAB-F191-498C-9D51-08A3DADF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Планирование жизни и формирование привычек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5284A-F201-4665-B785-7BED5BDD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65250-144D-41D8-A1DA-DC254C89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9AF86-9DC7-4AE5-ADEE-B51C9E43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17AFF"/>
                </a:solidFill>
                <a:latin typeface="Arial"/>
                <a:ea typeface="Arial"/>
                <a:cs typeface="Arial"/>
              </a:rPr>
              <a:t>Учебный проект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716E3-4608-4FC0-961F-64DB82E0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Мария и Вика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A677B-CCB6-4C15-B833-80D55FBC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12 октября — 25 декабря 2026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8A543-006C-4E5A-BADB-C0AAABE691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4545d97504f0c"/>
          <a:stretch xmlns:a="http://schemas.openxmlformats.org/drawingml/2006/main"/>
        </p:blipFill>
        <p:spPr>
          <a:xfrm xmlns:a="http://schemas.openxmlformats.org/drawingml/2006/main">
            <a:off x="8572500" y="2764222"/>
            <a:ext cx="5905500" cy="51300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6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28B45-9AE7-4FB6-8A35-35032AC4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5B91A-6609-4B87-8095-1A42F344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Идея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9BDBE-A40C-4836-9D47-D7F0638F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Единое настольное приложение для личных планов и повседневных записей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75D57-22A7-4345-9EC2-6D7083DC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8C277-C1BD-4EC0-8BB6-E532D916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5D41E-A245-46D6-9CA1-1A045567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92C8D-3AA5-4267-BBD0-27411C81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Задачи, привычки и бытовые записи хранятся в разных инструментах. Пользователю сложно видеть общий план.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967B8-73ED-4F61-A27F-5C895466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1D85D-BA2A-437E-9892-F73BD4F1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52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Обзор недели и месяца, отметки привычек, ручной учёт финансов и коммунальных платежей в одном интерфейсе.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EBB37-3150-4DEC-B5AD-CF25BBEF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Роль EVE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0F0BA-B6CB-4F14-AC78-1EFB76C4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95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Ассистент выполняет поддерживаемые команды. Свободный разговор и голос зависят от настроек и сервисов.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8052A-2796-45C9-97D3-C5E08DE0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Гипотеза пользы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22974-5736-4AAF-8546-7C1319C1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438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Объединение сценариев упростит ежедневное планирование. Это проверяем в пилоте, эффект пока не доказан.</a:t>
            </a:r>
          </a:p>
        </p:txBody>
      </p:sp>
    </p:spTree>
    <p:extLst>
      <p:ext uri="{BB962C8B-B14F-4D97-AF65-F5344CB8AC3E}">
        <p14:creationId xmlns:p14="http://schemas.microsoft.com/office/powerpoint/2010/main" val="1872986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8E132-550F-47D0-859A-C8091413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99576-42AA-49B7-9A07-DC1E54E5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Аудитория и рыночные альтернативы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01AC8-4D02-4057-829F-590D0DAA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Первый сегмент: русскоязычные пользователи Windows, совмещающие учёбу, работу и домашние дела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D658A-6787-418B-B56A-1C892EE7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BD099-621C-4DE0-8786-C5D9A86A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191BF-B183-4933-8762-920CB9EA1B8D}"/>
              </a:ext>
            </a:extLst>
          </p:cNvPr>
          <p:cNvGraphicFramePr/>
          <p:nvPr/>
        </p:nvGraphicFramePr>
        <p:xfrm>
          <a:off xmlns:a="http://schemas.openxmlformats.org/drawingml/2006/main" x="685800" y="3095625"/>
          <a:ext xmlns:a="http://schemas.openxmlformats.org/drawingml/2006/main" cx="13868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048250"/>
                <a:gridCol w="643890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Решение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Проверенная бесплатная версия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проверяем в интервью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Todoist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Beginner: 5 личных проектов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Достаточно ли задач и напоминаний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TickTick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Free: 9 списков, 99 задач на список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Удобство планирования и привычек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Notion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Free: €0 за пользователя/месяц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Готовность настраивать свою систему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Календарь + таблица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Имеющиеся инструменты пользователя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Время на перенос записей между ними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RE:FORM LIFE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Пилот без платы за использование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Нужен ли единый локальный интерфейс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CB4FE-8155-4B5A-BB14-6BD35B21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05625"/>
            <a:ext cx="1386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Официальные страницы проверены 14.10.2026. Бесплатные альтернативы повышают требования к удобству. Оплата и доступность в регионе требуют отдельной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881640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0F075-A3CA-4FBA-B8B6-D99C1ADF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21919-94A5-4D8A-BAFA-0DAFFF9A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Методология: Agile с Kanban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8BC71-A808-432B-919C-7B7D6BD2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Короткие итерации подходят для проверки UX и функций EVE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73286-3E72-4613-87AF-136E50EC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17718-FAFE-4F5F-BE2B-4A8A38A7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20BEF-10FB-47B9-B466-1FFB3D0B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Почему Agile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4F534-1550-43E7-AA02-1D933CD8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Требования уточняются после интервью и пользовательских сессий. Результат каждой итерации можно проверить.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B1B86-262A-4419-A96C-99AC268E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Как работает Kanban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5C168-D57C-4ADB-8F2A-B82C74DD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52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Доска: «Запланировано», «В работе», «Проверка», «Готово». Не более одной основной задачи в работе на человека.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7E790-4A76-421F-826A-0A7EBE3A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Ритм команды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7E17A-4813-4D9A-9731-668B4751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95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Раз в неделю: проверка прогресса, затрат и приоритетов. Перед вехой: демонстрация и приёмка по KPI.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A8723-7629-47BB-A1C6-DBFFAB36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Критерий готовности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49CCC-C232-4F16-B3FE-1178605D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438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Результат сохранён, проверка пройдена, Вика проверила сценарий, Мария включила исправления в сборку.</a:t>
            </a:r>
          </a:p>
        </p:txBody>
      </p:sp>
    </p:spTree>
    <p:extLst>
      <p:ext uri="{BB962C8B-B14F-4D97-AF65-F5344CB8AC3E}">
        <p14:creationId xmlns:p14="http://schemas.microsoft.com/office/powerpoint/2010/main" val="1806148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80715-1F80-4D51-A32F-3D642C13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84935-FD08-4882-AAD7-74ED3231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Основные характеристики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82055-56A0-418F-AAEA-29C13C52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Стабилизация существующего прототипа и закрытый пилот, 18 пакетов работ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A7E93-61D1-41B3-BD68-7440FE57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E8005-6D5E-4E6F-9A33-3FCCFDD1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51AB6-F00C-4C35-98FC-68A3B9CC18DF}"/>
              </a:ext>
            </a:extLst>
          </p:cNvPr>
          <p:cNvGraphicFramePr/>
          <p:nvPr/>
        </p:nvGraphicFramePr>
        <p:xfrm>
          <a:off xmlns:a="http://schemas.openxmlformats.org/drawingml/2006/main" x="685800" y="2895600"/>
          <a:ext xmlns:a="http://schemas.openxmlformats.org/drawingml/2006/main" cx="138684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0439400"/>
              </a:tblGrid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Параметр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План проекта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Команда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Мария: управление и код. Вика: UX, исследование и QA. Роли совмещаются.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Срок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12.10–25.12.2026, 11 недель, 54 рабочих дня, 04.11 исключён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Проверенная Windows-сборка, пилот на 30 участниках, отчёт и решение о развитии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Объём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Неделя/месяц, привычки, ручной учёт, 10 команд EVE, резервные копии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За пределами пилота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Мобильное приложение, синхронизация, банковские интеграции, платный запуск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Ресурсы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432 ч доступности двух участников, денежный лимит 3 000 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F2761-3E64-4A0F-B575-B57EFE2B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Средняя занятость 4 ч в рабочий день на человека и наличие техники — плановые допущения. Даты сохраняются при стабилизации готового кода, а не разработке с нуля.</a:t>
            </a:r>
          </a:p>
        </p:txBody>
      </p:sp>
    </p:spTree>
    <p:extLst>
      <p:ext uri="{BB962C8B-B14F-4D97-AF65-F5344CB8AC3E}">
        <p14:creationId xmlns:p14="http://schemas.microsoft.com/office/powerpoint/2010/main" val="1809299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E8C81-E0E4-4617-9478-CB412A92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614B9-F37F-45F7-96EB-8FA127C2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SMART-цель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622DF-A746-41C0-B81B-49740331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 25.12.2026 принять стабильную сборку и оценить пользу на закрытом пилоте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D3881-802E-45CB-BF85-741A30B3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057A5-8C1A-4376-8879-E493F68D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12EE6-D935-4CF0-80DE-823F83A6C83D}"/>
              </a:ext>
            </a:extLst>
          </p:cNvPr>
          <p:cNvGraphicFramePr/>
          <p:nvPr/>
        </p:nvGraphicFramePr>
        <p:xfrm>
          <a:off xmlns:a="http://schemas.openxmlformats.org/drawingml/2006/main" x="685800" y="2895600"/>
          <a:ext xmlns:a="http://schemas.openxmlformats.org/drawingml/2006/main" cx="138684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0820400"/>
              </a:tblGrid>
              <a:tr h="739775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SMART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Содержание цели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73977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 · Конкретная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Подготовить пилот RE:FORM LIFE с планерами, привычками, ручным учётом и командами EVE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3977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M · Измеримая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10/10 сценариев, 0 P0/P1, ≥24/30 активированных, D7 ≥40%, полезность ≥4/5 при ≥20 анкетах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3977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A · Достижимая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Используем существующий прототип. 2 участника, 234 ч пакетов, 432 ч доступности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3977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R · Значимая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Проверяем, помогает ли единый интерфейс регулярно планировать и отмечать повседневные дела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3977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T · Во времени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Активация 30.11, пилот до 13.12, итоговая приёмка 23.12, закрытие 25.12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832AA-2ECD-471D-9871-31F78F66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0"/>
            <a:ext cx="1386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Продуктовые пороги — проверяемая гипотеза. Проект может завершиться обоснованным решением доработать или остановить её.</a:t>
            </a:r>
          </a:p>
        </p:txBody>
      </p:sp>
    </p:spTree>
    <p:extLst>
      <p:ext uri="{BB962C8B-B14F-4D97-AF65-F5344CB8AC3E}">
        <p14:creationId xmlns:p14="http://schemas.microsoft.com/office/powerpoint/2010/main" val="540580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AD62E-82EA-4E9E-BD70-5F0A66C0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28A5C-E857-40D6-8567-F6D91FF0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Треугольник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277D0-3E4B-4864-BB59-A291BD37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Срок, стоимость и содержание связаны. Качество задаёт критерий приёмки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886A9-C7EA-4CA4-8F4A-FDA6632E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0882B-B6C2-422B-B738-B948143B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A787F-A4EA-420E-B2D5-7FC05A49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1EAF0-7666-4E11-8446-7A4FB263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Закрытие 25 декабря. Резерв расписания — 24 декабря. Пилот длится 14 календарных дней.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32522-ED22-4872-BFB9-A831D61B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Стоимость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48128-BA12-4FF6-92C3-A7674F4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52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Без новых платных подписок. Лимит денежных расходов 3 000 ₽. Труд учитываем отдельно в часах.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0C5DA-165F-4689-8130-FE7BE4AE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Содержание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B13BE-28F0-4A70-8663-DD3BB532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95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18 пакетов ИСР. Ядро: планирование, привычки и данные. Расширения EVE и оформления сокращаем первыми.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13C5D-C206-43A7-BD49-4618AA31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Качество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F3D56-208D-479D-B2F1-A55FB593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438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0 P0/P1, 10/10 обязательных сценариев, 3/3 восстановления. При росте работ пересматриваем объём или срок.</a:t>
            </a:r>
          </a:p>
        </p:txBody>
      </p:sp>
    </p:spTree>
    <p:extLst>
      <p:ext uri="{BB962C8B-B14F-4D97-AF65-F5344CB8AC3E}">
        <p14:creationId xmlns:p14="http://schemas.microsoft.com/office/powerpoint/2010/main" val="1984747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E1C4B-6163-4BB8-A83F-008765F6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DCD7B-E615-4F7F-A4E1-F3330C7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Метод приоритизации: MoSCoW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3E55F-6201-41CA-A29C-BD0C54DB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Приоритет показывает необходимость результата для текущего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C574F-E3CD-4284-9E6C-014DE2ED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6BBD3-6A99-4397-A435-DEEA71B9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F7606-36A8-4226-9EBD-5BC7CF9A0632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  <a:gridCol w="6248400"/>
              </a:tblGrid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Категория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Применение в RE:FORM LIFE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M · Must have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Без результата пилот не состоится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Данные и копии, задачи, привычки, QA, набор и отчёт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 · Should have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Высокая польза, есть временный обход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Стабилизация ручного учёта, ограниченные команды EVE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C · Could have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Улучшение после обязательных работ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Мудборд, анимация маскота, косметическая полировка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W · Won’t have now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Вне текущего периода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Облако и расширенный ИИ, мобильная версия, банковские интеграции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4262D-230D-4DFD-A257-19EB1327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7705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Порядок выбора: обязательность для пилота, зависимость других задач, риск, затем удобство. Пересмотр еженедельно. S входят в текущий базовый план, их удаление требует изменить сценарии и KPI.</a:t>
            </a:r>
          </a:p>
        </p:txBody>
      </p:sp>
    </p:spTree>
    <p:extLst>
      <p:ext uri="{BB962C8B-B14F-4D97-AF65-F5344CB8AC3E}">
        <p14:creationId xmlns:p14="http://schemas.microsoft.com/office/powerpoint/2010/main" val="11184077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C3DAD-B890-409A-B9D8-D63A4C2A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B7B70-E95D-4AF5-A673-AB1F4EE5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Как приоритеты меняют план работ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91C6C-E12B-4B09-B786-1CDFB6BB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Подзадачи исходной ИСР встроены в единый календарный план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4EFBC-EA7D-4BB7-B6E1-63349469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D1B3E-E5EF-4ED1-9622-8B5A0FA7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AF0E1-D8D8-4E39-A509-3E050AADD970}"/>
              </a:ext>
            </a:extLst>
          </p:cNvPr>
          <p:cNvGraphicFramePr/>
          <p:nvPr/>
        </p:nvGraphicFramePr>
        <p:xfrm>
          <a:off xmlns:a="http://schemas.openxmlformats.org/drawingml/2006/main" x="685800" y="2914650"/>
          <a:ext xmlns:a="http://schemas.openxmlformats.org/drawingml/2006/main" cx="13868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2428875"/>
                <a:gridCol w="6772275"/>
              </a:tblGrid>
              <a:tr h="639536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Исходная задача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Код новой ИСР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Приоритет и обоснование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39536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Макеты недели, месяца и привычек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M: проверка основных пользовательских сценариев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39536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Мудборд и палитра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C: используем текущий стиль, без редизайна перед пилотом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39536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База задач и привычек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M: хранение и восстановление данных обязательны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39536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Связь с языковой моделью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3.3, расширение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W: облачный разговор не нужен для базовой приёмки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39536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Логика команд EVE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S: 10 проверяемых команд, ручной ввод как обход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39536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Пользовательский тест и исправления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2.1, 4.4, 5.2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M: без проверки пользы нет основания для развития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22D8A-8092-468B-8242-9112A604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34275"/>
            <a:ext cx="1386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MoSCoW относится к объёму работ. P0–P3 обозначают серьёзность ошибок и применяются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0215442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1C332-8B7D-4FEB-A6B9-C0419D7D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FA6FB-5C21-41B7-82EF-84509136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Иерархическая структура работ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64A30-EF2F-434C-8506-C67CEFDA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Уровень 0: пилот RE:FORM LIFE. Уровень 1: пять этапов. Уровень 2: 18 пакетов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4108E-A3FB-48EB-8C6F-6A00FCF5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20E21-D627-476B-AC1A-51E653CA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DD65A-A321-454A-B34F-9CC9E56ADE86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6953250"/>
                <a:gridCol w="3676650"/>
              </a:tblGrid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Пакеты работ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Выход этапа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· Исследование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1.1 Паспорт, 1.2 Спрос, 1.3 Требования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Цель и базовый план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 · Проектирование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 UX, 2.2 Данные и восстановление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Проверенные макеты и схема данных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 · Стабилизация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3.1 Задачи, 3.2 Учёт, 3.3 EVE, 3.4 Сборка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Кандидат для пилота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 · Пилот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4.1 QA, 4.2 Набор, 4.3 Активация, 4.4 Наблюдение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Данные о качестве и использовании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 · Завершение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5.1 Анализ, 5.2 Правки, 5.3 QA, 5.4 Резерв, 5.5 Итог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Принятая сборка и решение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2058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39676-6850-424E-BCE4-CC1A0317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5DED-5B27-4A4D-B50B-A001BD97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ИСР: исследование и ядро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30C6F-FB7C-4FA0-88B6-FC11FFC6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M — обязательно, S — важно. Часы: Мария / Вика. Все KPI являются плановыми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7E359-F432-496B-851E-11399F47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BB3A8-9F0F-4FC7-928F-797C4F9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EF082-EAD3-443E-B63A-FDA3F1AA850D}"/>
              </a:ext>
            </a:extLst>
          </p:cNvPr>
          <p:cNvGraphicFramePr/>
          <p:nvPr/>
        </p:nvGraphicFramePr>
        <p:xfrm>
          <a:off xmlns:a="http://schemas.openxmlformats.org/drawingml/2006/main" x="685800" y="2914650"/>
          <a:ext xmlns:a="http://schemas.openxmlformats.org/drawingml/2006/main" cx="138684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809750"/>
                <a:gridCol w="1695450"/>
                <a:gridCol w="1762125"/>
                <a:gridCol w="4886325"/>
              </a:tblGrid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Код и пакет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Даты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Приор. / часы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Зависит от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KPI приёмки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1.1 Паспорт проекта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12.10–14.10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3 + 3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Цель, границы и роли согласованы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1.2 Спрос и альтернативы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15.10–23.10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4 + 20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 интервью, 5 альтернатив, ≥8 подтверждений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1.3 ИСР и требования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26.10–28.10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6 + 6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18 пакетов, 10 сценариев приёмки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 Прототип и UX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29.10–06.11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2 + 16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 сессий, ≥4/5 без подсказок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2.2 Данные и восстановление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29.10–06.11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16 + 2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Схема данных, 3/3 восстановления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3.1 Задачи и привычки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09.11–20.11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22 + 2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2.1, 2.2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Сценарии 01–05 и 09 проходят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954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D1149-2F17-4227-B9B8-59714DA8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B3393-615F-41EF-A425-C0A20172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ИСР: сборка и подготовка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4B5FC-0FC0-4A35-9C4F-DFC5D583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M — обязательно, S — важно. Часы: Мария / Вика. Все KPI являются плановыми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C585C-2D15-4D20-B2F6-91B80576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6BD72-8F18-48BA-8F4F-5F71E72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48192-C79A-4C4F-873E-CF096B7A60E3}"/>
              </a:ext>
            </a:extLst>
          </p:cNvPr>
          <p:cNvGraphicFramePr/>
          <p:nvPr/>
        </p:nvGraphicFramePr>
        <p:xfrm>
          <a:off xmlns:a="http://schemas.openxmlformats.org/drawingml/2006/main" x="685800" y="2914650"/>
          <a:ext xmlns:a="http://schemas.openxmlformats.org/drawingml/2006/main" cx="138684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809750"/>
                <a:gridCol w="1695450"/>
                <a:gridCol w="1762125"/>
                <a:gridCol w="4886325"/>
              </a:tblGrid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Код и пакет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Даты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Приор. / часы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Зависит от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KPI приёмки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3.2 Ручной учёт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09.11–13.11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 / 6 + 6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2.1, 2.2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Расчёты и сохранение верны, 0 потерь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3.3 Команды EVE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16.11–20.11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S / 6 + 6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10 команд совпадают с ручным действием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3.4 Интеграция и сборка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23.11–25.11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10 + 2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3.1, 3.3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сборка и инструкция запуска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4.1 Приёмка пилота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26.11–27.11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2 + 10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20/20 проверок, 10/10 сценариев, 0 P0/P1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4.2 Набор участников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16.11–27.11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2 + 14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30 участников и 5 запасных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4.3 Установка и активация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30.11–30.11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3 + 3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4.1, 4.2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≥24 активированных из 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485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56E3B-F429-49E8-8466-82A3C085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25823-9BB4-4BAF-B1F4-3A578A0D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ИСР: наблюдение и завершение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A4932-D7F4-4066-AED9-3141CE63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M — обязательно, S — важно. Часы: Мария / Вика. Все KPI являются плановыми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04F7A-B277-4CBE-83A7-D6CFFF90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5738A-0552-420E-B04E-F400DBB1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429D3-BC47-4401-A684-CEE258110E0A}"/>
              </a:ext>
            </a:extLst>
          </p:cNvPr>
          <p:cNvGraphicFramePr/>
          <p:nvPr/>
        </p:nvGraphicFramePr>
        <p:xfrm>
          <a:off xmlns:a="http://schemas.openxmlformats.org/drawingml/2006/main" x="685800" y="2914650"/>
          <a:ext xmlns:a="http://schemas.openxmlformats.org/drawingml/2006/main" cx="138684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809750"/>
                <a:gridCol w="1695450"/>
                <a:gridCol w="1762125"/>
                <a:gridCol w="4886325"/>
              </a:tblGrid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Код и пакет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Даты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Приор. / часы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Зависит от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KPI приёмки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4.4 Пилот и наблюдение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30.11–13.12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8 + 16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4.3*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14 дней, D7 ≥40%, ≥20 анкет, ≥4/5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5.1 Анализ результатов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14.12–16.12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2 + 8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100% KPI рассчитаны, 3 улучшения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5.2 Исправления пилота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17.12–22.12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14 + 2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Все P0/P1 закрыты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5.3 Повторная проверка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23.12–23.12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1 + 5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10/10 сценариев, 3/3 восстановления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5.4 Резерв завершения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24.12–24.12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0 + 0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рабочий день буфера, без новых функций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53143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5.5 Решение и документы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25.12–25.12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 / 3 + 3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100% документов, 1 решение о развитии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27404-E99C-4236-A044-A4566ED0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34275"/>
            <a:ext cx="13868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* 4.4 начинается 30.11 после утренней активации. 5.4 — календарный буфер, часы исправлений берём из резерва.</a:t>
            </a:r>
          </a:p>
        </p:txBody>
      </p:sp>
    </p:spTree>
    <p:extLst>
      <p:ext uri="{BB962C8B-B14F-4D97-AF65-F5344CB8AC3E}">
        <p14:creationId xmlns:p14="http://schemas.microsoft.com/office/powerpoint/2010/main" val="6055594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BE733-A5C7-474A-AF64-BF1E7037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BA088-8287-40C1-A624-49405CEF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Вехи: готовность к пилоту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D8393-C807-4260-B339-15002B0C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Контрольная точка имеет нулевую длительность. Подтверждение: протокол, сборка или реестр событий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55857-4FEB-4D01-83D6-82365107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000D9-7CF0-4F1F-AFF6-98050127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1D758-CA9E-412A-A889-4E3BF116C881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5295900"/>
                <a:gridCol w="2857500"/>
              </a:tblGrid>
              <a:tr h="754063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КТ / дата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KPI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ИСР / ответственный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75406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КТ1 / 23.10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Спрос исследован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 интервью, ≥8/12 подтверждений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1.2 / Вика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5406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КТ2 / 28.10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Базовый план принят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18 пакетов, 100% с ролями и KPI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1.3 / Мария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5406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КТ3 / 06.11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Проектирование завершено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UX ≥4/5, восстановление 3/3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2.1, 2.2 / Обе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5406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КТ4 / 27.11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Допуск к пилоту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20/20, 10/10, 0 P0/P1, 30 участников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4.1, 4.2 / Вика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5406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КТ5 / 30.11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Когорта активирована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≥24/30, активация ≥80%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4.3 / Обе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2583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F9025-6243-4A59-8D70-BE4C7C6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22A0A-3032-4A8C-9DD6-8DBBB1D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Вехи: результаты и завершение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DC1A1-9337-425D-8A78-1C5629CC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Контрольная точка имеет нулевую длительность. Подтверждение: протокол, сборка или реестр событий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BDA84-9347-490F-83C9-4FB1FAD0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AFA21-E80A-473D-B9AE-76BD1FF4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2E683-E161-4FFB-A800-3D12855566AC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5295900"/>
                <a:gridCol w="2857500"/>
              </a:tblGrid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КТ / дата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KPI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ИСР / ответственный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КТ6 / 13.12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Пилот завершён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D7 ≥40%, ≥20 анкет, полезность ≥4/5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4.4 / Вика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КТ7 / 16.12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Выводы согласованы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100% KPI, сроки и владельцы P0/P1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5.1 / Обе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КТ8 / 23.12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Финальная приёмка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10/10, 0 P0/P1, восстановление 3/3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5.3 / Вика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КТ9 / 25.12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Проект закрыт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Сборка, отчёт, ИСР, Гант, ресурсная карта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5.5 / Обе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B938F-6305-4BAB-BB8C-A77CE206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628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При невыполнении критерия фиксируем причину и решение. Пилот блокируют ошибки P0/P1. Низкие продуктовые метрики ведут к доработке гипотезы.</a:t>
            </a:r>
          </a:p>
        </p:txBody>
      </p:sp>
    </p:spTree>
    <p:extLst>
      <p:ext uri="{BB962C8B-B14F-4D97-AF65-F5344CB8AC3E}">
        <p14:creationId xmlns:p14="http://schemas.microsoft.com/office/powerpoint/2010/main" val="17214870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9E06D-8E06-4D22-9B70-BC93C80A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83E8B-9874-4ECC-A4CD-64BD82E4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KPI сроков, бюджета и качества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90A0A-5966-4299-8BAB-991AF96F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Для каждой метрики есть формула, владелец и источник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8C55E-B1BB-4B73-A802-7A117607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1E871-5566-4308-B45A-FE3640C4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AD46E-630D-47CB-9A38-3BC55EDC8B24}"/>
              </a:ext>
            </a:extLst>
          </p:cNvPr>
          <p:cNvGraphicFramePr/>
          <p:nvPr/>
        </p:nvGraphicFramePr>
        <p:xfrm>
          <a:off xmlns:a="http://schemas.openxmlformats.org/drawingml/2006/main" x="685800" y="2971800"/>
          <a:ext xmlns:a="http://schemas.openxmlformats.org/drawingml/2006/main" cx="13868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200650"/>
                <a:gridCol w="5810250"/>
              </a:tblGrid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Тип KPI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Плановый порог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Учёт и ответственность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Сроки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КТ9 — 25.12, 9/9 вех в базовые даты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Вехи в срок / 9, календарь, Мария, еженедельно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Бюджет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Фактические расходы ≤3 000 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Сумма подтверждённых расходов, реестр, Мария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Качество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10/10 сценариев, 20/20 проверок, 0 P0/P1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Протокол QA и журнал ошибок, Вика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Производительность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≥80% запланированных пакетов недели приняты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Принятые / запланированные пакеты, доска Kanban, обе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7461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Риски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0 потерь данных, 3/3 восстановления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Журнал инцидентов, тестовые копии, Мария + Вика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A132F-57E2-48A9-AAE6-DFC3FC9E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53325"/>
            <a:ext cx="1386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Порог производительности и денежный лимит добавлены как плановые предложения. Объём недели согласуем до её начала.</a:t>
            </a:r>
          </a:p>
        </p:txBody>
      </p:sp>
    </p:spTree>
    <p:extLst>
      <p:ext uri="{BB962C8B-B14F-4D97-AF65-F5344CB8AC3E}">
        <p14:creationId xmlns:p14="http://schemas.microsoft.com/office/powerpoint/2010/main" val="5424624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CB4EA-6DA4-438B-9E45-1B098D5C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B981B-DA11-4625-9CE8-1BDCC739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KPI пользы: активация и D7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59678-CCA7-4E77-A70C-79D96306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Когорта активируется 30 ноября, D7 измеряем 7 декабря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3DC28-4442-44D9-B3D0-070F795E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C9C41-13B8-4377-BF67-8F9E42EE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E2CDE-FE75-47D8-A6DB-B7B61589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Активация ≥80%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CE524-238D-4AEF-9EBE-5FE7AB6B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Завершили установку, создали и выполнили задачу, отметили привычку / 30 приглашённых. Нужно ≥24 человека.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151BB-1D03-49D5-989D-E6887C74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D7 ≥40%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A367E-3A02-4120-8B0A-F921DDA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52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Активированные 30.11, выполнившие задачу или отметку привычки 07.12 / все активированные 30.11. При n=24 нужно ≥10.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A4B25-3752-4F28-B924-3B7CC3BB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Полезность ≥4/5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8AEA7-F447-45B5-99FE-D4424C7A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95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Сумма оценок / число валидных анкет. Не менее 20 ответов 11–13 декабря, один ответ от участника.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67D20-45F1-471C-843A-30D15EAB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Источник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5860C-2B60-4CA1-8B0B-A0446C4D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438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Обезличенные события с согласия или дневник со сверкой QA. Время Europe/Moscow. Отсутствие события не считаем успехом.</a:t>
            </a:r>
          </a:p>
        </p:txBody>
      </p:sp>
    </p:spTree>
    <p:extLst>
      <p:ext uri="{BB962C8B-B14F-4D97-AF65-F5344CB8AC3E}">
        <p14:creationId xmlns:p14="http://schemas.microsoft.com/office/powerpoint/2010/main" val="429269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717948-CDFC-4CB1-89A0-9415AEA2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BA089-2465-4099-9880-08595303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Диаграмма Ганта: подготовка и сборка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E617B-9E82-45C3-8A4C-6E048913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12.10–25.12.2026. Полоса — календарный интервал, не непрерывная занятость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754D9-F360-4FEF-8E73-73A6694E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28EF0-903F-42D7-A045-5AB3861E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6C0B2-37AF-45A0-8374-5BFC083E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Н1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12.10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819D1-76E5-4BAB-B05E-C8BB57E4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A1BA0-CBB4-4F81-99A9-A335F211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14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Н2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19.10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F117A-89D7-4418-8D73-3919545D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14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58C06-BBDE-4651-A680-B1B9B717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527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Н3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26.10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F9288-848C-4A26-8DE7-56681B66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527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6A0B9-560E-4BE5-9A6F-C5575825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041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Н4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02.11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D2165-2AEE-4C7A-AD77-682F14E8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041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2F9A6-7A42-4F01-9411-49657894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555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Н5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09.11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B8F71-AC32-4638-9F5B-F6A404E8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555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B65A2-A501-4978-957F-F26F3608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068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Н6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16.11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6E7CC-5DC7-44E8-80F3-D232CB0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068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C50AA-F068-4D34-8D27-11B6DF85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582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Н7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23.11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B424F-E75E-4A2A-8C95-E25494D1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582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7ABE9-798C-4876-998B-56A0F464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095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Н8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30.11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E09AC-79D4-406E-85CE-A6DABA17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095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D90FC-7351-4941-9DD1-8E07E60F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609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Н9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07.12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19EEFE-9D2F-4724-B164-85D8B534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609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ABEBD-A6CF-4EF8-B486-47598DB9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123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Н10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14.12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29665-A79E-400C-AC06-23F436CE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123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ED227-ACBB-40C1-84AE-B6DCBEA7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0636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Н11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21.12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7717E-519E-40FC-8A56-8FFEEFFB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0636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2F766-AC6D-4A53-8C51-5DB3692A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1.1 Паспорт проекта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5ECEA-8F69-46D2-AEB7-270D1E0E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3362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7E2D7C-E2AE-44E1-9AF7-BB45C426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1.2 Спрос и альтернативы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67054A-D229-4275-BECF-4EBF3245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20" y="3676650"/>
            <a:ext cx="10086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3CCDF-3AB5-4728-9D85-F30FA420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1.3 ИСР и требования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23272-0C29-402D-9B98-F10D2C0C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527" y="4076700"/>
            <a:ext cx="3362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A43CF-54DF-411F-9E68-5F9884CA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2.1 Прототип и UX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6DEDD9-8FE6-441F-8C47-E9E165CC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747" y="4476750"/>
            <a:ext cx="10086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D66EA-B41C-465E-A4C4-ECCB103A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2.2 Данные и восстановление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A64628-201A-4567-A287-F19325C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747" y="4876800"/>
            <a:ext cx="10086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96426F-74E7-489A-9A3C-2CAFEA20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3.1 Задачи и привычки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450FA7-BD09-4144-A39F-57256E31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555" y="5276850"/>
            <a:ext cx="1344881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EAB757-EBAD-4004-AE73-906B04AC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3.2 Ручной учёт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CF0B15-6888-4393-984E-D365B5E0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555" y="5676900"/>
            <a:ext cx="56036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F67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401A7B-FB4D-46B0-BC19-C632C96A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3.3 Команды EVE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E7DEB7-79E6-41CC-81E9-B213B13F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068" y="6076950"/>
            <a:ext cx="56036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F67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CE0993-8F09-4C88-8328-7F682036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3.4 Интеграция и сборка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95307A-F3BB-4A54-91DF-946E0CEE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582" y="6477000"/>
            <a:ext cx="3362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774F0E-31E8-49AE-8FF2-7B85FEC7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0"/>
            <a:ext cx="1386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Синий: M. Золотой: S. 04.11 — нерабочий день. Поддержка пилота — по рабочим дням.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646904-E7C0-409B-9A1F-5599582D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10475"/>
            <a:ext cx="1386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3D5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3D5B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D5B0"/>
                </a:solidFill>
                <a:latin typeface="Arial"/>
                <a:ea typeface="Arial"/>
                <a:cs typeface="Arial"/>
              </a:rPr>
              <a:t>КТ1 23.10   КТ2 28.10   КТ3 06.11   КТ4 27.11</a:t>
            </a:r>
          </a:p>
        </p:txBody>
      </p:sp>
    </p:spTree>
    <p:extLst>
      <p:ext uri="{BB962C8B-B14F-4D97-AF65-F5344CB8AC3E}">
        <p14:creationId xmlns:p14="http://schemas.microsoft.com/office/powerpoint/2010/main" val="18462962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7987FC-DA04-4F37-A56A-5E8A288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6261C-D4B4-41C8-A411-360B7BC3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Диаграмма Ганта: пилот и завершение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B467A-AD4D-4963-8725-812BB4BA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12.10–25.12.2026. Полоса — календарный интервал, не непрерывная занятость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D1A7B-C9EE-4663-BD03-F7D2669C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71621-E2BA-47EE-AF1F-3ED7C5FC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6069A-8710-48FA-A329-6835E975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Н1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12.10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2D2C9-7560-4D44-BFEE-DCFBDD81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991E2-0831-4505-8122-9215A456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14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Н2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19.10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6DFDB-7D47-4C22-8807-7BA29235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14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3CD70-583F-4BA7-9724-DAE1FA45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527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Н3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26.10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7BC4B-4AAA-44E4-A9F2-95ABD7F2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527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B5CC6-D668-40C5-A62C-CBE47CC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041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Н4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02.11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E7768-AB5D-4FAF-B58E-04DAF734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041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B3FF8-4329-4D41-AFDA-CDF1485C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555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Н5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09.11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12A53-67B8-465B-B77F-594C8C0F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555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8F702-B30B-4491-80B6-B5C54223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068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Н6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16.11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C6836-D4AE-4C9A-A231-454C8A67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068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33249-E5E6-460E-9007-ED6DEB7C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582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Н7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23.11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7FEAF-EE33-400C-9330-BAE6F5C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582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DC660-91F1-4999-9248-B775A5AB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095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Н8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30.11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F824B-FA30-415C-9E49-6CC49FFA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095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C2C90-F5CE-45A9-98AD-080ADDB3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609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Н9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07.12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03EB3-10FD-4935-B7F1-05B276B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609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2DE64-587C-4737-BDBD-3660FE72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123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Н10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14.12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C3BC0-C406-40E6-82DE-9482CE73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123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F494E-E961-4B48-9FFF-1C0601CC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0636" y="2647950"/>
            <a:ext cx="78451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Н11</a:t>
            </a:r>
          </a:p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21.12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E1BE9-3DFA-43C2-AE2A-8FD8304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0636" y="3200400"/>
            <a:ext cx="0" cy="36004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7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24C4F-4913-49F6-A584-4F92C8F4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4.1 Приёмка пилота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9BB81-A369-489B-8916-6D95BC2B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8802" y="3276600"/>
            <a:ext cx="22414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0EFC1-FC77-440C-817B-FAB6F683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4.2 Набор участников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5B8BC-AA49-4D6D-AF56-71E43001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068" y="3676650"/>
            <a:ext cx="1344881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6319A0-9B7E-46D5-963E-6CAF15B4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4.3 Установка и активация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E36424-F5E8-4171-A794-76D0FA30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095" y="4076700"/>
            <a:ext cx="11207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F86BB7-9FFB-4694-9B8E-DEF2A403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4.4 Пилот и наблюдение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986673-4790-4867-89FA-E00B36BE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095" y="4476750"/>
            <a:ext cx="156902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2F2D80-60B5-424C-8A91-22D3FBE9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5.1 Анализ результатов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692CEF-4B53-42BE-A5A6-125E1434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123" y="4876800"/>
            <a:ext cx="3362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A8838A-25AF-401C-9F25-B81868A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5.2 Исправления пилота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26BF2F-3425-40BD-A0F3-237BD9E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2343" y="5276850"/>
            <a:ext cx="6724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ADF691-A97E-48FB-8A92-1218E12F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5.3 Повторная проверка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9C1015-3AC0-4C77-BAE1-C4CC2D93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4783" y="5676900"/>
            <a:ext cx="11207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E287DA-D398-4D36-BC44-21CF0811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5.4 Резерв завершения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91CF4D-247D-42A2-BE71-6E4F1ACD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856" y="6076950"/>
            <a:ext cx="11207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69EC72-394F-4DEA-BC5C-6EABAE67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5.5 Решение и документы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038F8D-A69B-4567-A50D-4B56640C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8930" y="6477000"/>
            <a:ext cx="11207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AF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083C9F-1135-42FC-B6B0-B7678CCC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0"/>
            <a:ext cx="1386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Синий: M. Золотой: S. 04.11 — нерабочий день. Поддержка пилота — по рабочим дням.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AD52E1-C5D9-4AA3-A4E4-CF72023D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10475"/>
            <a:ext cx="1386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3D5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3D5B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D5B0"/>
                </a:solidFill>
                <a:latin typeface="Arial"/>
                <a:ea typeface="Arial"/>
                <a:cs typeface="Arial"/>
              </a:rPr>
              <a:t>КТ5 30.11   КТ6 13.12   КТ7 16.12   КТ8 23.12   КТ9 25.12</a:t>
            </a:r>
          </a:p>
        </p:txBody>
      </p:sp>
    </p:spTree>
    <p:extLst>
      <p:ext uri="{BB962C8B-B14F-4D97-AF65-F5344CB8AC3E}">
        <p14:creationId xmlns:p14="http://schemas.microsoft.com/office/powerpoint/2010/main" val="14247215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51BA9-5051-461F-89D4-AFC0E475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DCC5D-7B15-42F7-AE65-F2811997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Ресурсная карта: команда и время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09B44-F353-4879-BD25-AF77CF69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Два участника совмещают роли. Доступность — допущение для согласования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56918-5A0D-4611-9B5C-75448F61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4B6E0-D3D6-4D49-AD52-F2892872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2A24C-98E5-4DEB-AA50-6C3069DEABAD}"/>
              </a:ext>
            </a:extLst>
          </p:cNvPr>
          <p:cNvGraphicFramePr/>
          <p:nvPr/>
        </p:nvGraphicFramePr>
        <p:xfrm>
          <a:off xmlns:a="http://schemas.openxmlformats.org/drawingml/2006/main" x="685800" y="2933700"/>
          <a:ext xmlns:a="http://schemas.openxmlformats.org/drawingml/2006/main" cx="138684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715000"/>
                <a:gridCol w="4914900"/>
              </a:tblGrid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 и объём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Связь с ИСР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Мария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человек, 110 ч пакетов из 216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Управление, данные, код, сборки и исправления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Вика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человек, 124 ч пакетов из 216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Интервью, UX, набор, QA и анализ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 интервью, 5 UX-сессий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1.2, 2.1, группы могут пересекаться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Пилотная когорта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30 участников + 5 запасных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4.2–4.4, добровольное участие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Календарь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54 дня × 4 ч × 2 = 432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1.1–5.5, 04.11 исключён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36814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Баланс часов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234 ч работы + 86,4 ч сопровождения + 111.6 ч резерва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Всего 432 ч, резерв 24.12 внутри этого объёма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D9463-5C0E-4436-B626-C3DD19E3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0"/>
            <a:ext cx="13868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ИИ помогает с кодом и отладкой, но не считается отдельным сотрудником. Мария и Вика принимают решения и проверяют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5861473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A8D38-A7C2-4930-940F-5527EBC5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EDDD1-02DC-464B-8010-4D75A513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Ресурсная карта: техника и ПО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59608-D1D7-4738-8BF3-B11A672B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Базовый пилот работает локально, новых платных сервисов не требует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363E2-524A-4DB6-8E46-D23E91F0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7B226-10FD-4EC0-86FE-1F2D5FA7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18A0C-52D8-462A-897E-6F00B0BA1A27}"/>
              </a:ext>
            </a:extLst>
          </p:cNvPr>
          <p:cNvGraphicFramePr/>
          <p:nvPr/>
        </p:nvGraphicFramePr>
        <p:xfrm>
          <a:off xmlns:a="http://schemas.openxmlformats.org/drawingml/2006/main" x="685800" y="2933700"/>
          <a:ext xmlns:a="http://schemas.openxmlformats.org/drawingml/2006/main" cx="138684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72250"/>
                <a:gridCol w="2524125"/>
                <a:gridCol w="4772025"/>
              </a:tblGrid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 / количество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ИСР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Условие доступности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 компьютера команды + 1 заёмный Windows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2.1–3.4, 4.1, 5.3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Наличие подтвердить, проверка на 3 конфигурациях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внешний накопитель ≥16 ГБ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2.2, 4.4, 5.3, 5.5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 копии базы, локальная и внешняя, без покупки при наличии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микрофон, 2 подключения к интернету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3.3, 4.1, 4.4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Голос опционален, ручной ввод доступен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 среды Python + Flask + pywebview, SQLite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2.2, 3.1–3.4, 5.2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Локальная база, версии из requirements.txt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 редактора кода, 1 Git-репозиторий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1.3–5.5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Бесплатный базовый набор без платных расширений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комплект макетов и таблиц, 1 модель Vosk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2.1, 3.3, 4.1, 5.1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Имеющийся редактор, лицензию модели проверить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49F48-F4CB-47AD-BC98-F90B0E35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43800"/>
            <a:ext cx="1386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Облачный разговор: 0 обязательных ключей и запросов. Доступ API, регион и стоимость проверяем до включения расширения.</a:t>
            </a:r>
          </a:p>
        </p:txBody>
      </p:sp>
    </p:spTree>
    <p:extLst>
      <p:ext uri="{BB962C8B-B14F-4D97-AF65-F5344CB8AC3E}">
        <p14:creationId xmlns:p14="http://schemas.microsoft.com/office/powerpoint/2010/main" val="10171503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3B0FE-F3B0-4024-892E-D51859D4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25DF1-8020-4E4C-83F6-1D96B832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Ресурсная карта: информация и деньги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BF3DA-4CCF-4000-B2A7-785C8E87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Ресурсы привязаны к результатам ИСР, расходы отделены от трудозатрат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11538-BE2B-49EF-AC24-50ECBE4D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35B34-7887-4B3A-A732-67326402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B71F7-A43C-4988-BE5A-1D68038B59FB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905500"/>
                <a:gridCol w="2724150"/>
              </a:tblGrid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Ресурс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ИСР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Протоколы исследования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 интервью + 5 UX-чек-листов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1.2, 2.1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Требования и приёмка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18 пакетов + 10 сценариев + 20 проверок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1.3, 4.1, 5.3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Тестовые данные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 набора без личных данных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2.2, 4.1, 5.3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Согласия, события и анкеты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30 согласий, ≥20 анкет, 1 журнал событий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4.2–4.4, 5.1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Документы сдачи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 комплект для каждого участника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5.5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25929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Денежный резерв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Лимит 3 000 ₽, базовые закупки 0 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2.2, 4.2–4.4, 5.5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D7FC3-0B94-498F-B29F-7F6F5E0E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48550"/>
            <a:ext cx="13868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3 000 ₽ — предложенный лимит, не подтверждённая смета. 0 ₽ предполагает имеющуюся технику и добровольное участие. Работа команды учтена в часах, а не как бесплатный рыночный труд.</a:t>
            </a:r>
          </a:p>
        </p:txBody>
      </p:sp>
    </p:spTree>
    <p:extLst>
      <p:ext uri="{BB962C8B-B14F-4D97-AF65-F5344CB8AC3E}">
        <p14:creationId xmlns:p14="http://schemas.microsoft.com/office/powerpoint/2010/main" val="17234324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FAE0D-2991-437E-886D-28A6DDE9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678E5-0F06-405E-875F-5A66704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Загрузка команды и контроль ресурсов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C238F-06AA-4642-9FC6-B76155A1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Часы пакетов распределены внутри календарных интервалов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6EDE8-A0CB-42D6-A235-C37D46E7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9C60E-D857-4BB6-A773-0B4794E3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2A848-4C03-494E-96FA-912ABCE821B5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143250"/>
                <a:gridCol w="3143250"/>
                <a:gridCol w="329565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Период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Мария, ч пакетов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Вика, ч пакетов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Доступность на человека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Н1–Н3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19.0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35.0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60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12.0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16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Н5–Н7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48.0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40.0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60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Н8–Н9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11.0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19.0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40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9.0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9.0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20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11.0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9.0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20 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0E7E9-EEA7-420C-8D81-33FCEB75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29475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Максимальная недельная загрузка пакетов: Мария 18.0 ч, Вика 19.0 ч. На неделе 02.11 доступно 16 ч на человека. Сопровождение размещаем в свободных часах.</a:t>
            </a:r>
          </a:p>
        </p:txBody>
      </p:sp>
    </p:spTree>
    <p:extLst>
      <p:ext uri="{BB962C8B-B14F-4D97-AF65-F5344CB8AC3E}">
        <p14:creationId xmlns:p14="http://schemas.microsoft.com/office/powerpoint/2010/main" val="16044664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5C7BC-7880-444B-8749-209D9CAC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A4A5C-ABBB-49B5-A447-3E8AD756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Риски и действия команды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767A1-79EF-4F3C-A533-48BD3C1E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Контроль рисков встроен в вехи, ИСР и ресурсную карту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4CCFD-E090-40A8-A5CC-697214D5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57FDC-402A-4470-8731-8E9FF2D2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CD47A-F0F3-4247-822C-C0591688499E}"/>
              </a:ext>
            </a:extLst>
          </p:cNvPr>
          <p:cNvGraphicFramePr/>
          <p:nvPr/>
        </p:nvGraphicFramePr>
        <p:xfrm>
          <a:off xmlns:a="http://schemas.openxmlformats.org/drawingml/2006/main" x="685800" y="2952750"/>
          <a:ext xmlns:a="http://schemas.openxmlformats.org/drawingml/2006/main" cx="138684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4810125"/>
                <a:gridCol w="5676900"/>
              </a:tblGrid>
              <a:tr h="646339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Сигнал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17AFF"/>
                          </a:solidFill>
                          <a:latin typeface="Arial"/>
                          <a:ea typeface="Arial"/>
                          <a:cs typeface="Arial"/>
                        </a:rPr>
                        <a:t>Действие и владелец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T w="9525">
                      <a:solidFill>
                        <a:srgbClr val="29374B"/>
                      </a:solidFill>
                      <a:prstDash val="solid"/>
                    </a:lnT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1B2944"/>
                    </a:solidFill>
                  </a:tcPr>
                </a:tc>
              </a:tr>
              <a:tr h="64633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Слабый спрос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На КТ1 менее 8/12 подтверждений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Вика уточняет сегмент, Мария пересматривает объём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4633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Недобор пилота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На 20.11 мало подтверждений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Вика ведёт резерв из 5 кандидатов, не смешивает D7-когорты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4633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Потеря данных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Любая P0 или неуспешное восстановление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Остановить пилот, копия до обновления, Мария исправляет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4633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Перегрузка двух участников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Загрузка выше согласованного лимита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Убрать C, пересмотреть S и критерии, затем срок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  <a:tr h="64633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Недоступность облачного API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Нет легального доступа или оплаты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Локальные команды и ручной ввод остаются базой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E1726"/>
                    </a:solidFill>
                  </a:tcPr>
                </a:tc>
              </a:tr>
              <a:tr h="64633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Малая выборка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9374B"/>
                      </a:solidFill>
                      <a:prstDash val="solid"/>
                    </a:lnL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Мало анкет или слабое удержание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5FC"/>
                          </a:solidFill>
                          <a:latin typeface="Arial"/>
                          <a:ea typeface="Arial"/>
                          <a:cs typeface="Arial"/>
                        </a:rPr>
                        <a:t>Указывать n и ограничения, не переносить результат на рынок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9374B"/>
                      </a:solidFill>
                      <a:prstDash val="solid"/>
                    </a:lnR>
                    <a:lnB w="9525">
                      <a:solidFill>
                        <a:srgbClr val="29374B"/>
                      </a:solidFill>
                      <a:prstDash val="solid"/>
                    </a:lnB>
                    <a:solidFill>
                      <a:srgbClr val="0A121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1864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45460-E86F-413B-86C7-F83383CA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DC5AB-8C9A-4096-A323-62E24C49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Приёмка и решение о развитии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FF682-48F0-4A0A-AC83-11F2284C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Готовность сборки и продуктовая гипотеза проверяются отдельно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68557-DB9E-4E92-9A8C-309CF824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9C26D-9C31-4391-8BB6-2C30DDA1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88FE8-2B6C-43F5-9E0A-FE2B8D2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Техническая готовность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29974-157A-4D18-8708-30620741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10/10 сценариев, 20/20 проверок перед пилотом, 0 открытых P0/P1, 3/3 чистых установок и восстановлений.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325C7-4FDA-40D8-87D7-E4784A42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Развивать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AF413-2BE2-4906-8CAA-FF5C3FA5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52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Финальная приёмка пройдена, активация ≥80%, D7 ≥40%, полезность ≥4/5 при ≥20 анкетах.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528AC-6DDB-436C-AC79-BF70A243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Доработать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C83CB-2121-4F48-9E75-04098AFD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95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Сборка готова, но хотя бы один продуктовый порог не достигнут или недостаточно данных.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84D7D-26BC-4CEF-8C00-0249FD3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Остановить гипотезу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6D50C-23B5-48F9-B1A2-452DF000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438900"/>
            <a:ext cx="942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Спрос не подтвердился или остаётся риск потери данных. Итоговый отчёт фиксирует причины и следующий шаг.</a:t>
            </a:r>
          </a:p>
        </p:txBody>
      </p:sp>
    </p:spTree>
    <p:extLst>
      <p:ext uri="{BB962C8B-B14F-4D97-AF65-F5344CB8AC3E}">
        <p14:creationId xmlns:p14="http://schemas.microsoft.com/office/powerpoint/2010/main" val="9520995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80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6E2E7-B323-44D9-8ACB-05B340C5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RE:FORM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4BA0B-2ACE-451B-85F5-70F0B047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5FC"/>
                </a:solidFill>
                <a:latin typeface="Arial"/>
                <a:ea typeface="Arial"/>
                <a:cs typeface="Arial"/>
              </a:rPr>
              <a:t>Источники и плановые допущения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AA482-9258-43E0-8D82-42C3ABF5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Ресурсная карта составлена по единому шаблону и передаётся отдельным PDF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A101C-4056-4CBC-BA12-F03917BF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86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Мария и Вика   /   План пилота   / 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8E9CC-2234-47F2-A2AB-DF85D060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E4906-5824-4D84-9BFF-44F25ABA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Материалы проекта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EA625-17E1-4982-836D-1D34A9CE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652462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Первая презентация, план работ, два одинаковых PDF проектного плана, PRODUCT.md и requirements.txt.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Команда: Мария и Вика в составе проекта. Занятость, распределение ролей, наличие техники и лимит 3 000 ₽ требуют согласования.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2ECB0-6D11-4702-8942-C99C77D6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17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17AFF"/>
                </a:solidFill>
                <a:latin typeface="Arial"/>
                <a:ea typeface="Arial"/>
                <a:cs typeface="Arial"/>
              </a:rPr>
              <a:t>Проверка рынка 14.10.2026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E381E-3B5A-49D2-B906-74F6B573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71875"/>
            <a:ext cx="65341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todoist.com/pricing</a:t>
            </a:r>
          </a:p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ticktick.com/about/upgrade</a:t>
            </a:r>
          </a:p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notion.com/pricing</a:t>
            </a:r>
          </a:p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sqlite.org/copyright.html</a:t>
            </a:r>
          </a:p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code.visualstudio.com/license</a:t>
            </a:r>
          </a:p>
          <a:p xmlns:a="http://schemas.openxmlformats.org/drawingml/2006/main">
            <a:pPr algn="l">
              <a:defRPr sz="1950" b="0">
                <a:solidFill>
                  <a:srgbClr val="F2F5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F5FC"/>
                </a:solidFill>
                <a:latin typeface="Arial"/>
                <a:ea typeface="Arial"/>
                <a:cs typeface="Arial"/>
              </a:rPr>
              <a:t>ai.google.dev/gemini-api/docs/available-regions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BA762-F3A7-43DA-9F0D-E4047EB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15175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AB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7CD"/>
                </a:solidFill>
                <a:latin typeface="Arial"/>
                <a:ea typeface="Arial"/>
                <a:cs typeface="Arial"/>
              </a:rPr>
              <a:t>Текст замечаний преподавателя не предоставлен. Для их учёта ведём реестр: замечание, код ИСР, изменение, проверка, дата. Каждый участник прикрепляет согласованный комплект самостоятельно.</a:t>
            </a:r>
          </a:p>
        </p:txBody>
      </p:sp>
    </p:spTree>
    <p:extLst>
      <p:ext uri="{BB962C8B-B14F-4D97-AF65-F5344CB8AC3E}">
        <p14:creationId xmlns:p14="http://schemas.microsoft.com/office/powerpoint/2010/main" val="669269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2026-10-14T10:35:22.1820000Z</dcterms:created>
  <dcterms:modified xsi:type="dcterms:W3CDTF">2026-10-14T10:35:22.1820000Z</dcterms:modified>
</coreProperties>
</file>