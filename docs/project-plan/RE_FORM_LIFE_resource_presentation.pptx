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cdef8ac5a14647" /><Relationship Type="http://schemas.openxmlformats.org/officeDocument/2006/relationships/extended-properties" Target="/docProps/app.xml" Id="Re94bd09327f64859" /><Relationship Type="http://schemas.openxmlformats.org/officeDocument/2006/relationships/officeDocument" Target="/ppt/presentation.xml" Id="R8e26fd85f45c46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aae5fa207eb4c2d"/>
  </p:sldMasterIdLst>
  <p:notesMasterIdLst>
    <p:notesMasterId xmlns:r="http://schemas.openxmlformats.org/officeDocument/2006/relationships" r:id="R041df7e6616c46a3"/>
  </p:notesMasterIdLst>
  <p:sldIdLst>
    <p:sldId xmlns:r="http://schemas.openxmlformats.org/officeDocument/2006/relationships" id="256" r:id="R5356ae5ac90c47f7"/>
    <p:sldId xmlns:r="http://schemas.openxmlformats.org/officeDocument/2006/relationships" id="257" r:id="Rd3c053b3767243ae"/>
    <p:sldId xmlns:r="http://schemas.openxmlformats.org/officeDocument/2006/relationships" id="258" r:id="R54467d11fbbe45c4"/>
    <p:sldId xmlns:r="http://schemas.openxmlformats.org/officeDocument/2006/relationships" id="259" r:id="Rb8ee775619a94884"/>
    <p:sldId xmlns:r="http://schemas.openxmlformats.org/officeDocument/2006/relationships" id="260" r:id="Rfc18275a935f45d3"/>
    <p:sldId xmlns:r="http://schemas.openxmlformats.org/officeDocument/2006/relationships" id="261" r:id="R0f2f44c4d6d048c1"/>
    <p:sldId xmlns:r="http://schemas.openxmlformats.org/officeDocument/2006/relationships" id="262" r:id="R00474de5d5114e04"/>
    <p:sldId xmlns:r="http://schemas.openxmlformats.org/officeDocument/2006/relationships" id="263" r:id="R1e40df70d7d0478b"/>
    <p:sldId xmlns:r="http://schemas.openxmlformats.org/officeDocument/2006/relationships" id="264" r:id="R566ba4648ab14a40"/>
    <p:sldId xmlns:r="http://schemas.openxmlformats.org/officeDocument/2006/relationships" id="265" r:id="Re74ef19a5900487b"/>
    <p:sldId xmlns:r="http://schemas.openxmlformats.org/officeDocument/2006/relationships" id="266" r:id="Rc92689f862554994"/>
    <p:sldId xmlns:r="http://schemas.openxmlformats.org/officeDocument/2006/relationships" id="267" r:id="Re821bc6d84034d02"/>
    <p:sldId xmlns:r="http://schemas.openxmlformats.org/officeDocument/2006/relationships" id="268" r:id="R2e8f2773814d4111"/>
    <p:sldId xmlns:r="http://schemas.openxmlformats.org/officeDocument/2006/relationships" id="269" r:id="Rdf59c3279c7e48a5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1a851cbd4de4869" /><Relationship Type="http://schemas.openxmlformats.org/officeDocument/2006/relationships/slideMaster" Target="/ppt/slideMasters/slideMaster1.xml" Id="R4aae5fa207eb4c2d" /><Relationship Type="http://schemas.openxmlformats.org/officeDocument/2006/relationships/notesMaster" Target="/ppt/notesMasters/notesMaster1.xml" Id="R041df7e6616c46a3" /><Relationship Type="http://schemas.openxmlformats.org/officeDocument/2006/relationships/presProps" Target="/ppt/presProps.xml" Id="R6ae12bb2cc084050" /><Relationship Type="http://schemas.openxmlformats.org/officeDocument/2006/relationships/tableStyles" Target="/ppt/tableStyles.xml" Id="R7ace9fa2a7e944ea" /><Relationship Type="http://schemas.openxmlformats.org/officeDocument/2006/relationships/slide" Target="/ppt/slides/slide1.xml" Id="R5356ae5ac90c47f7" /><Relationship Type="http://schemas.openxmlformats.org/officeDocument/2006/relationships/slide" Target="/ppt/slides/slide2.xml" Id="Rd3c053b3767243ae" /><Relationship Type="http://schemas.openxmlformats.org/officeDocument/2006/relationships/slide" Target="/ppt/slides/slide3.xml" Id="R54467d11fbbe45c4" /><Relationship Type="http://schemas.openxmlformats.org/officeDocument/2006/relationships/slide" Target="/ppt/slides/slide4.xml" Id="Rb8ee775619a94884" /><Relationship Type="http://schemas.openxmlformats.org/officeDocument/2006/relationships/slide" Target="/ppt/slides/slide5.xml" Id="Rfc18275a935f45d3" /><Relationship Type="http://schemas.openxmlformats.org/officeDocument/2006/relationships/slide" Target="/ppt/slides/slide6.xml" Id="R0f2f44c4d6d048c1" /><Relationship Type="http://schemas.openxmlformats.org/officeDocument/2006/relationships/slide" Target="/ppt/slides/slide7.xml" Id="R00474de5d5114e04" /><Relationship Type="http://schemas.openxmlformats.org/officeDocument/2006/relationships/slide" Target="/ppt/slides/slide8.xml" Id="R1e40df70d7d0478b" /><Relationship Type="http://schemas.openxmlformats.org/officeDocument/2006/relationships/slide" Target="/ppt/slides/slide9.xml" Id="R566ba4648ab14a40" /><Relationship Type="http://schemas.openxmlformats.org/officeDocument/2006/relationships/slide" Target="/ppt/slides/slide10.xml" Id="Re74ef19a5900487b" /><Relationship Type="http://schemas.openxmlformats.org/officeDocument/2006/relationships/slide" Target="/ppt/slides/slide11.xml" Id="Rc92689f862554994" /><Relationship Type="http://schemas.openxmlformats.org/officeDocument/2006/relationships/slide" Target="/ppt/slides/slide12.xml" Id="Re821bc6d84034d02" /><Relationship Type="http://schemas.openxmlformats.org/officeDocument/2006/relationships/slide" Target="/ppt/slides/slide13.xml" Id="R2e8f2773814d4111" /><Relationship Type="http://schemas.openxmlformats.org/officeDocument/2006/relationships/slide" Target="/ppt/slides/slide14.xml" Id="Rdf59c3279c7e48a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69a5e74a724472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d77a6a68da3458a" /><Relationship Type="http://schemas.openxmlformats.org/officeDocument/2006/relationships/notesMaster" Target="/ppt/notesMasters/notesMaster1.xml" Id="R01f2ae4d34884fe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6bb695743234c38" /><Relationship Type="http://schemas.openxmlformats.org/officeDocument/2006/relationships/notesMaster" Target="/ppt/notesMasters/notesMaster1.xml" Id="R15b025db0739481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8b4e070cc484611" /><Relationship Type="http://schemas.openxmlformats.org/officeDocument/2006/relationships/notesMaster" Target="/ppt/notesMasters/notesMaster1.xml" Id="Rb39cf9706af04e2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403b891603b4497" /><Relationship Type="http://schemas.openxmlformats.org/officeDocument/2006/relationships/notesMaster" Target="/ppt/notesMasters/notesMaster1.xml" Id="R9c89d39fbbeb48e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49d5037592f49fc" /><Relationship Type="http://schemas.openxmlformats.org/officeDocument/2006/relationships/notesMaster" Target="/ppt/notesMasters/notesMaster1.xml" Id="R241414d3149d412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1d23639c84b4781" /><Relationship Type="http://schemas.openxmlformats.org/officeDocument/2006/relationships/notesMaster" Target="/ppt/notesMasters/notesMaster1.xml" Id="R012707105e11444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66a3e3bf8cf4078" /><Relationship Type="http://schemas.openxmlformats.org/officeDocument/2006/relationships/notesMaster" Target="/ppt/notesMasters/notesMaster1.xml" Id="R266f7ea2018a452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ba14ee7aa724796" /><Relationship Type="http://schemas.openxmlformats.org/officeDocument/2006/relationships/notesMaster" Target="/ppt/notesMasters/notesMaster1.xml" Id="Rad70c88b129c49d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75554e9c1914edf" /><Relationship Type="http://schemas.openxmlformats.org/officeDocument/2006/relationships/notesMaster" Target="/ppt/notesMasters/notesMaster1.xml" Id="Ra625c8151884489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6acff309ddd432d" /><Relationship Type="http://schemas.openxmlformats.org/officeDocument/2006/relationships/notesMaster" Target="/ppt/notesMasters/notesMaster1.xml" Id="Rde9398bde250412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41db0ad0f6940d8" /><Relationship Type="http://schemas.openxmlformats.org/officeDocument/2006/relationships/notesMaster" Target="/ppt/notesMasters/notesMaster1.xml" Id="Rc90cc464f0be4a5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4a2d3fbb0804e50" /><Relationship Type="http://schemas.openxmlformats.org/officeDocument/2006/relationships/notesMaster" Target="/ppt/notesMasters/notesMaster1.xml" Id="Rfb02f551f045411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c1253be87d24e0c" /><Relationship Type="http://schemas.openxmlformats.org/officeDocument/2006/relationships/notesMaster" Target="/ppt/notesMasters/notesMaster1.xml" Id="R486903a73b70428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201d69da57e48b5" /><Relationship Type="http://schemas.openxmlformats.org/officeDocument/2006/relationships/notesMaster" Target="/ppt/notesMasters/notesMaster1.xml" Id="Rf856a4eef67d44f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на 12.10–25.12.2026. Источники: F:/RE_FORM/презентация.pdf</a:t>
            </a:r>
          </a:p>
          <a:p xmlns:a="http://schemas.openxmlformats.org/drawingml/2006/main">
            <a:r>
              <a:t>C:/Users/1/Downloads/план реформ 5.pdf</a:t>
            </a:r>
          </a:p>
          <a:p xmlns:a="http://schemas.openxmlformats.org/drawingml/2006/main">
            <a:r>
              <a:t>C:/Users/1/Downloads/напишите еще про метод приоритезации плзз.pdf</a:t>
            </a:r>
          </a:p>
          <a:p xmlns:a="http://schemas.openxmlformats.org/drawingml/2006/main">
            <a:r>
              <a:t>F:/RE-FORM-LIFE/docs/PRODUCT.md; requirements.txt</a:t>
            </a:r>
          </a:p>
          <a:p xmlns:a="http://schemas.openxmlformats.org/drawingml/2006/main">
            <a:r>
              <a:t>https://todoist.com/pricing</a:t>
            </a:r>
          </a:p>
          <a:p xmlns:a="http://schemas.openxmlformats.org/drawingml/2006/main">
            <a:r>
              <a:t>https://ticktick.com/about/upgrade</a:t>
            </a:r>
          </a:p>
          <a:p xmlns:a="http://schemas.openxmlformats.org/drawingml/2006/main">
            <a:r>
              <a:t>https://www.notion.com/pricing</a:t>
            </a:r>
          </a:p>
          <a:p xmlns:a="http://schemas.openxmlformats.org/drawingml/2006/main">
            <a:r>
              <a:t>https://sqlite.org/copyright.html</a:t>
            </a:r>
          </a:p>
          <a:p xmlns:a="http://schemas.openxmlformats.org/drawingml/2006/main">
            <a:r>
              <a:t>https://code.visualstudio.com/license</a:t>
            </a:r>
          </a:p>
          <a:p xmlns:a="http://schemas.openxmlformats.org/drawingml/2006/main">
            <a:r>
              <a:t>https://ai.google.dev/gemini-api/docs/available-regions</a:t>
            </a:r>
          </a:p>
          <a:p xmlns:a="http://schemas.openxmlformats.org/drawingml/2006/main">
            <a:r>
              <a:t>Часы, роли, наличие техники и бюджет являются плановыми допущениями.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на 12.10–25.12.2026. Источники: F:/RE_FORM/презентация.pdf</a:t>
            </a:r>
          </a:p>
          <a:p xmlns:a="http://schemas.openxmlformats.org/drawingml/2006/main">
            <a:r>
              <a:t>C:/Users/1/Downloads/план реформ 5.pdf</a:t>
            </a:r>
          </a:p>
          <a:p xmlns:a="http://schemas.openxmlformats.org/drawingml/2006/main">
            <a:r>
              <a:t>C:/Users/1/Downloads/напишите еще про метод приоритезации плзз.pdf</a:t>
            </a:r>
          </a:p>
          <a:p xmlns:a="http://schemas.openxmlformats.org/drawingml/2006/main">
            <a:r>
              <a:t>F:/RE-FORM-LIFE/docs/PRODUCT.md; requirements.txt</a:t>
            </a:r>
          </a:p>
          <a:p xmlns:a="http://schemas.openxmlformats.org/drawingml/2006/main">
            <a:r>
              <a:t>https://todoist.com/pricing</a:t>
            </a:r>
          </a:p>
          <a:p xmlns:a="http://schemas.openxmlformats.org/drawingml/2006/main">
            <a:r>
              <a:t>https://ticktick.com/about/upgrade</a:t>
            </a:r>
          </a:p>
          <a:p xmlns:a="http://schemas.openxmlformats.org/drawingml/2006/main">
            <a:r>
              <a:t>https://www.notion.com/pricing</a:t>
            </a:r>
          </a:p>
          <a:p xmlns:a="http://schemas.openxmlformats.org/drawingml/2006/main">
            <a:r>
              <a:t>https://sqlite.org/copyright.html</a:t>
            </a:r>
          </a:p>
          <a:p xmlns:a="http://schemas.openxmlformats.org/drawingml/2006/main">
            <a:r>
              <a:t>https://code.visualstudio.com/license</a:t>
            </a:r>
          </a:p>
          <a:p xmlns:a="http://schemas.openxmlformats.org/drawingml/2006/main">
            <a:r>
              <a:t>https://ai.google.dev/gemini-api/docs/available-regions</a:t>
            </a:r>
          </a:p>
          <a:p xmlns:a="http://schemas.openxmlformats.org/drawingml/2006/main">
            <a:r>
              <a:t>Часы, роли, наличие техники и бюджет являются плановыми допущениями.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на 12.10–25.12.2026. Источники: F:/RE_FORM/презентация.pdf</a:t>
            </a:r>
          </a:p>
          <a:p xmlns:a="http://schemas.openxmlformats.org/drawingml/2006/main">
            <a:r>
              <a:t>C:/Users/1/Downloads/план реформ 5.pdf</a:t>
            </a:r>
          </a:p>
          <a:p xmlns:a="http://schemas.openxmlformats.org/drawingml/2006/main">
            <a:r>
              <a:t>C:/Users/1/Downloads/напишите еще про метод приоритезации плзз.pdf</a:t>
            </a:r>
          </a:p>
          <a:p xmlns:a="http://schemas.openxmlformats.org/drawingml/2006/main">
            <a:r>
              <a:t>F:/RE-FORM-LIFE/docs/PRODUCT.md; requirements.txt</a:t>
            </a:r>
          </a:p>
          <a:p xmlns:a="http://schemas.openxmlformats.org/drawingml/2006/main">
            <a:r>
              <a:t>https://todoist.com/pricing</a:t>
            </a:r>
          </a:p>
          <a:p xmlns:a="http://schemas.openxmlformats.org/drawingml/2006/main">
            <a:r>
              <a:t>https://ticktick.com/about/upgrade</a:t>
            </a:r>
          </a:p>
          <a:p xmlns:a="http://schemas.openxmlformats.org/drawingml/2006/main">
            <a:r>
              <a:t>https://www.notion.com/pricing</a:t>
            </a:r>
          </a:p>
          <a:p xmlns:a="http://schemas.openxmlformats.org/drawingml/2006/main">
            <a:r>
              <a:t>https://sqlite.org/copyright.html</a:t>
            </a:r>
          </a:p>
          <a:p xmlns:a="http://schemas.openxmlformats.org/drawingml/2006/main">
            <a:r>
              <a:t>https://code.visualstudio.com/license</a:t>
            </a:r>
          </a:p>
          <a:p xmlns:a="http://schemas.openxmlformats.org/drawingml/2006/main">
            <a:r>
              <a:t>https://ai.google.dev/gemini-api/docs/available-regions</a:t>
            </a:r>
          </a:p>
          <a:p xmlns:a="http://schemas.openxmlformats.org/drawingml/2006/main">
            <a:r>
              <a:t>Часы, роли, наличие техники и бюджет являются плановыми допущениями.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на 12.10–25.12.2026. Источники: F:/RE_FORM/презентация.pdf</a:t>
            </a:r>
          </a:p>
          <a:p xmlns:a="http://schemas.openxmlformats.org/drawingml/2006/main">
            <a:r>
              <a:t>C:/Users/1/Downloads/план реформ 5.pdf</a:t>
            </a:r>
          </a:p>
          <a:p xmlns:a="http://schemas.openxmlformats.org/drawingml/2006/main">
            <a:r>
              <a:t>C:/Users/1/Downloads/напишите еще про метод приоритезации плзз.pdf</a:t>
            </a:r>
          </a:p>
          <a:p xmlns:a="http://schemas.openxmlformats.org/drawingml/2006/main">
            <a:r>
              <a:t>F:/RE-FORM-LIFE/docs/PRODUCT.md; requirements.txt</a:t>
            </a:r>
          </a:p>
          <a:p xmlns:a="http://schemas.openxmlformats.org/drawingml/2006/main">
            <a:r>
              <a:t>https://todoist.com/pricing</a:t>
            </a:r>
          </a:p>
          <a:p xmlns:a="http://schemas.openxmlformats.org/drawingml/2006/main">
            <a:r>
              <a:t>https://ticktick.com/about/upgrade</a:t>
            </a:r>
          </a:p>
          <a:p xmlns:a="http://schemas.openxmlformats.org/drawingml/2006/main">
            <a:r>
              <a:t>https://www.notion.com/pricing</a:t>
            </a:r>
          </a:p>
          <a:p xmlns:a="http://schemas.openxmlformats.org/drawingml/2006/main">
            <a:r>
              <a:t>https://sqlite.org/copyright.html</a:t>
            </a:r>
          </a:p>
          <a:p xmlns:a="http://schemas.openxmlformats.org/drawingml/2006/main">
            <a:r>
              <a:t>https://code.visualstudio.com/license</a:t>
            </a:r>
          </a:p>
          <a:p xmlns:a="http://schemas.openxmlformats.org/drawingml/2006/main">
            <a:r>
              <a:t>https://ai.google.dev/gemini-api/docs/available-regions</a:t>
            </a:r>
          </a:p>
          <a:p xmlns:a="http://schemas.openxmlformats.org/drawingml/2006/main">
            <a:r>
              <a:t>Часы, роли, наличие техники и бюджет являются плановыми допущениями.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на 12.10–25.12.2026. Источники: F:/RE_FORM/презентация.pdf</a:t>
            </a:r>
          </a:p>
          <a:p xmlns:a="http://schemas.openxmlformats.org/drawingml/2006/main">
            <a:r>
              <a:t>C:/Users/1/Downloads/план реформ 5.pdf</a:t>
            </a:r>
          </a:p>
          <a:p xmlns:a="http://schemas.openxmlformats.org/drawingml/2006/main">
            <a:r>
              <a:t>C:/Users/1/Downloads/напишите еще про метод приоритезации плзз.pdf</a:t>
            </a:r>
          </a:p>
          <a:p xmlns:a="http://schemas.openxmlformats.org/drawingml/2006/main">
            <a:r>
              <a:t>F:/RE-FORM-LIFE/docs/PRODUCT.md; requirements.txt</a:t>
            </a:r>
          </a:p>
          <a:p xmlns:a="http://schemas.openxmlformats.org/drawingml/2006/main">
            <a:r>
              <a:t>https://todoist.com/pricing</a:t>
            </a:r>
          </a:p>
          <a:p xmlns:a="http://schemas.openxmlformats.org/drawingml/2006/main">
            <a:r>
              <a:t>https://ticktick.com/about/upgrade</a:t>
            </a:r>
          </a:p>
          <a:p xmlns:a="http://schemas.openxmlformats.org/drawingml/2006/main">
            <a:r>
              <a:t>https://www.notion.com/pricing</a:t>
            </a:r>
          </a:p>
          <a:p xmlns:a="http://schemas.openxmlformats.org/drawingml/2006/main">
            <a:r>
              <a:t>https://sqlite.org/copyright.html</a:t>
            </a:r>
          </a:p>
          <a:p xmlns:a="http://schemas.openxmlformats.org/drawingml/2006/main">
            <a:r>
              <a:t>https://code.visualstudio.com/license</a:t>
            </a:r>
          </a:p>
          <a:p xmlns:a="http://schemas.openxmlformats.org/drawingml/2006/main">
            <a:r>
              <a:t>https://ai.google.dev/gemini-api/docs/available-regions</a:t>
            </a:r>
          </a:p>
          <a:p xmlns:a="http://schemas.openxmlformats.org/drawingml/2006/main">
            <a:r>
              <a:t>Часы, роли, наличие техники и бюджет являются плановыми допущениями.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на 12.10–25.12.2026. Источники: F:/RE_FORM/презентация.pdf</a:t>
            </a:r>
          </a:p>
          <a:p xmlns:a="http://schemas.openxmlformats.org/drawingml/2006/main">
            <a:r>
              <a:t>C:/Users/1/Downloads/план реформ 5.pdf</a:t>
            </a:r>
          </a:p>
          <a:p xmlns:a="http://schemas.openxmlformats.org/drawingml/2006/main">
            <a:r>
              <a:t>C:/Users/1/Downloads/напишите еще про метод приоритезации плзз.pdf</a:t>
            </a:r>
          </a:p>
          <a:p xmlns:a="http://schemas.openxmlformats.org/drawingml/2006/main">
            <a:r>
              <a:t>F:/RE-FORM-LIFE/docs/PRODUCT.md; requirements.txt</a:t>
            </a:r>
          </a:p>
          <a:p xmlns:a="http://schemas.openxmlformats.org/drawingml/2006/main">
            <a:r>
              <a:t>https://todoist.com/pricing</a:t>
            </a:r>
          </a:p>
          <a:p xmlns:a="http://schemas.openxmlformats.org/drawingml/2006/main">
            <a:r>
              <a:t>https://ticktick.com/about/upgrade</a:t>
            </a:r>
          </a:p>
          <a:p xmlns:a="http://schemas.openxmlformats.org/drawingml/2006/main">
            <a:r>
              <a:t>https://www.notion.com/pricing</a:t>
            </a:r>
          </a:p>
          <a:p xmlns:a="http://schemas.openxmlformats.org/drawingml/2006/main">
            <a:r>
              <a:t>https://sqlite.org/copyright.html</a:t>
            </a:r>
          </a:p>
          <a:p xmlns:a="http://schemas.openxmlformats.org/drawingml/2006/main">
            <a:r>
              <a:t>https://code.visualstudio.com/license</a:t>
            </a:r>
          </a:p>
          <a:p xmlns:a="http://schemas.openxmlformats.org/drawingml/2006/main">
            <a:r>
              <a:t>https://ai.google.dev/gemini-api/docs/available-regions</a:t>
            </a:r>
          </a:p>
          <a:p xmlns:a="http://schemas.openxmlformats.org/drawingml/2006/main">
            <a:r>
              <a:t>Часы, роли, наличие техники и бюджет являются плановыми допущениями.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на 12.10–25.12.2026. Источники: F:/RE_FORM/презентация.pdf</a:t>
            </a:r>
          </a:p>
          <a:p xmlns:a="http://schemas.openxmlformats.org/drawingml/2006/main">
            <a:r>
              <a:t>C:/Users/1/Downloads/план реформ 5.pdf</a:t>
            </a:r>
          </a:p>
          <a:p xmlns:a="http://schemas.openxmlformats.org/drawingml/2006/main">
            <a:r>
              <a:t>C:/Users/1/Downloads/напишите еще про метод приоритезации плзз.pdf</a:t>
            </a:r>
          </a:p>
          <a:p xmlns:a="http://schemas.openxmlformats.org/drawingml/2006/main">
            <a:r>
              <a:t>F:/RE-FORM-LIFE/docs/PRODUCT.md; requirements.txt</a:t>
            </a:r>
          </a:p>
          <a:p xmlns:a="http://schemas.openxmlformats.org/drawingml/2006/main">
            <a:r>
              <a:t>https://todoist.com/pricing</a:t>
            </a:r>
          </a:p>
          <a:p xmlns:a="http://schemas.openxmlformats.org/drawingml/2006/main">
            <a:r>
              <a:t>https://ticktick.com/about/upgrade</a:t>
            </a:r>
          </a:p>
          <a:p xmlns:a="http://schemas.openxmlformats.org/drawingml/2006/main">
            <a:r>
              <a:t>https://www.notion.com/pricing</a:t>
            </a:r>
          </a:p>
          <a:p xmlns:a="http://schemas.openxmlformats.org/drawingml/2006/main">
            <a:r>
              <a:t>https://sqlite.org/copyright.html</a:t>
            </a:r>
          </a:p>
          <a:p xmlns:a="http://schemas.openxmlformats.org/drawingml/2006/main">
            <a:r>
              <a:t>https://code.visualstudio.com/license</a:t>
            </a:r>
          </a:p>
          <a:p xmlns:a="http://schemas.openxmlformats.org/drawingml/2006/main">
            <a:r>
              <a:t>https://ai.google.dev/gemini-api/docs/available-regions</a:t>
            </a:r>
          </a:p>
          <a:p xmlns:a="http://schemas.openxmlformats.org/drawingml/2006/main">
            <a:r>
              <a:t>Часы, роли, наличие техники и бюджет являются плановыми допущениями.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на 12.10–25.12.2026. Источники: F:/RE_FORM/презентация.pdf</a:t>
            </a:r>
          </a:p>
          <a:p xmlns:a="http://schemas.openxmlformats.org/drawingml/2006/main">
            <a:r>
              <a:t>C:/Users/1/Downloads/план реформ 5.pdf</a:t>
            </a:r>
          </a:p>
          <a:p xmlns:a="http://schemas.openxmlformats.org/drawingml/2006/main">
            <a:r>
              <a:t>C:/Users/1/Downloads/напишите еще про метод приоритезации плзз.pdf</a:t>
            </a:r>
          </a:p>
          <a:p xmlns:a="http://schemas.openxmlformats.org/drawingml/2006/main">
            <a:r>
              <a:t>F:/RE-FORM-LIFE/docs/PRODUCT.md; requirements.txt</a:t>
            </a:r>
          </a:p>
          <a:p xmlns:a="http://schemas.openxmlformats.org/drawingml/2006/main">
            <a:r>
              <a:t>https://todoist.com/pricing</a:t>
            </a:r>
          </a:p>
          <a:p xmlns:a="http://schemas.openxmlformats.org/drawingml/2006/main">
            <a:r>
              <a:t>https://ticktick.com/about/upgrade</a:t>
            </a:r>
          </a:p>
          <a:p xmlns:a="http://schemas.openxmlformats.org/drawingml/2006/main">
            <a:r>
              <a:t>https://www.notion.com/pricing</a:t>
            </a:r>
          </a:p>
          <a:p xmlns:a="http://schemas.openxmlformats.org/drawingml/2006/main">
            <a:r>
              <a:t>https://sqlite.org/copyright.html</a:t>
            </a:r>
          </a:p>
          <a:p xmlns:a="http://schemas.openxmlformats.org/drawingml/2006/main">
            <a:r>
              <a:t>https://code.visualstudio.com/license</a:t>
            </a:r>
          </a:p>
          <a:p xmlns:a="http://schemas.openxmlformats.org/drawingml/2006/main">
            <a:r>
              <a:t>https://ai.google.dev/gemini-api/docs/available-regions</a:t>
            </a:r>
          </a:p>
          <a:p xmlns:a="http://schemas.openxmlformats.org/drawingml/2006/main">
            <a:r>
              <a:t>Часы, роли, наличие техники и бюджет являются плановыми допущениями.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на 12.10–25.12.2026. Источники: F:/RE_FORM/презентация.pdf</a:t>
            </a:r>
          </a:p>
          <a:p xmlns:a="http://schemas.openxmlformats.org/drawingml/2006/main">
            <a:r>
              <a:t>C:/Users/1/Downloads/план реформ 5.pdf</a:t>
            </a:r>
          </a:p>
          <a:p xmlns:a="http://schemas.openxmlformats.org/drawingml/2006/main">
            <a:r>
              <a:t>C:/Users/1/Downloads/напишите еще про метод приоритезации плзз.pdf</a:t>
            </a:r>
          </a:p>
          <a:p xmlns:a="http://schemas.openxmlformats.org/drawingml/2006/main">
            <a:r>
              <a:t>F:/RE-FORM-LIFE/docs/PRODUCT.md; requirements.txt</a:t>
            </a:r>
          </a:p>
          <a:p xmlns:a="http://schemas.openxmlformats.org/drawingml/2006/main">
            <a:r>
              <a:t>https://todoist.com/pricing</a:t>
            </a:r>
          </a:p>
          <a:p xmlns:a="http://schemas.openxmlformats.org/drawingml/2006/main">
            <a:r>
              <a:t>https://ticktick.com/about/upgrade</a:t>
            </a:r>
          </a:p>
          <a:p xmlns:a="http://schemas.openxmlformats.org/drawingml/2006/main">
            <a:r>
              <a:t>https://www.notion.com/pricing</a:t>
            </a:r>
          </a:p>
          <a:p xmlns:a="http://schemas.openxmlformats.org/drawingml/2006/main">
            <a:r>
              <a:t>https://sqlite.org/copyright.html</a:t>
            </a:r>
          </a:p>
          <a:p xmlns:a="http://schemas.openxmlformats.org/drawingml/2006/main">
            <a:r>
              <a:t>https://code.visualstudio.com/license</a:t>
            </a:r>
          </a:p>
          <a:p xmlns:a="http://schemas.openxmlformats.org/drawingml/2006/main">
            <a:r>
              <a:t>https://ai.google.dev/gemini-api/docs/available-regions</a:t>
            </a:r>
          </a:p>
          <a:p xmlns:a="http://schemas.openxmlformats.org/drawingml/2006/main">
            <a:r>
              <a:t>Часы, роли, наличие техники и бюджет являются плановыми допущениями.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на 12.10–25.12.2026. Источники: F:/RE_FORM/презентация.pdf</a:t>
            </a:r>
          </a:p>
          <a:p xmlns:a="http://schemas.openxmlformats.org/drawingml/2006/main">
            <a:r>
              <a:t>C:/Users/1/Downloads/план реформ 5.pdf</a:t>
            </a:r>
          </a:p>
          <a:p xmlns:a="http://schemas.openxmlformats.org/drawingml/2006/main">
            <a:r>
              <a:t>C:/Users/1/Downloads/напишите еще про метод приоритезации плзз.pdf</a:t>
            </a:r>
          </a:p>
          <a:p xmlns:a="http://schemas.openxmlformats.org/drawingml/2006/main">
            <a:r>
              <a:t>F:/RE-FORM-LIFE/docs/PRODUCT.md; requirements.txt</a:t>
            </a:r>
          </a:p>
          <a:p xmlns:a="http://schemas.openxmlformats.org/drawingml/2006/main">
            <a:r>
              <a:t>https://todoist.com/pricing</a:t>
            </a:r>
          </a:p>
          <a:p xmlns:a="http://schemas.openxmlformats.org/drawingml/2006/main">
            <a:r>
              <a:t>https://ticktick.com/about/upgrade</a:t>
            </a:r>
          </a:p>
          <a:p xmlns:a="http://schemas.openxmlformats.org/drawingml/2006/main">
            <a:r>
              <a:t>https://www.notion.com/pricing</a:t>
            </a:r>
          </a:p>
          <a:p xmlns:a="http://schemas.openxmlformats.org/drawingml/2006/main">
            <a:r>
              <a:t>https://sqlite.org/copyright.html</a:t>
            </a:r>
          </a:p>
          <a:p xmlns:a="http://schemas.openxmlformats.org/drawingml/2006/main">
            <a:r>
              <a:t>https://code.visualstudio.com/license</a:t>
            </a:r>
          </a:p>
          <a:p xmlns:a="http://schemas.openxmlformats.org/drawingml/2006/main">
            <a:r>
              <a:t>https://ai.google.dev/gemini-api/docs/available-regions</a:t>
            </a:r>
          </a:p>
          <a:p xmlns:a="http://schemas.openxmlformats.org/drawingml/2006/main">
            <a:r>
              <a:t>Часы, роли, наличие техники и бюджет являются плановыми допущениями.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на 12.10–25.12.2026. Источники: F:/RE_FORM/презентация.pdf</a:t>
            </a:r>
          </a:p>
          <a:p xmlns:a="http://schemas.openxmlformats.org/drawingml/2006/main">
            <a:r>
              <a:t>C:/Users/1/Downloads/план реформ 5.pdf</a:t>
            </a:r>
          </a:p>
          <a:p xmlns:a="http://schemas.openxmlformats.org/drawingml/2006/main">
            <a:r>
              <a:t>C:/Users/1/Downloads/напишите еще про метод приоритезации плзз.pdf</a:t>
            </a:r>
          </a:p>
          <a:p xmlns:a="http://schemas.openxmlformats.org/drawingml/2006/main">
            <a:r>
              <a:t>F:/RE-FORM-LIFE/docs/PRODUCT.md; requirements.txt</a:t>
            </a:r>
          </a:p>
          <a:p xmlns:a="http://schemas.openxmlformats.org/drawingml/2006/main">
            <a:r>
              <a:t>https://todoist.com/pricing</a:t>
            </a:r>
          </a:p>
          <a:p xmlns:a="http://schemas.openxmlformats.org/drawingml/2006/main">
            <a:r>
              <a:t>https://ticktick.com/about/upgrade</a:t>
            </a:r>
          </a:p>
          <a:p xmlns:a="http://schemas.openxmlformats.org/drawingml/2006/main">
            <a:r>
              <a:t>https://www.notion.com/pricing</a:t>
            </a:r>
          </a:p>
          <a:p xmlns:a="http://schemas.openxmlformats.org/drawingml/2006/main">
            <a:r>
              <a:t>https://sqlite.org/copyright.html</a:t>
            </a:r>
          </a:p>
          <a:p xmlns:a="http://schemas.openxmlformats.org/drawingml/2006/main">
            <a:r>
              <a:t>https://code.visualstudio.com/license</a:t>
            </a:r>
          </a:p>
          <a:p xmlns:a="http://schemas.openxmlformats.org/drawingml/2006/main">
            <a:r>
              <a:t>https://ai.google.dev/gemini-api/docs/available-regions</a:t>
            </a:r>
          </a:p>
          <a:p xmlns:a="http://schemas.openxmlformats.org/drawingml/2006/main">
            <a:r>
              <a:t>Часы, роли, наличие техники и бюджет являются плановыми допущениями.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на 12.10–25.12.2026. Источники: F:/RE_FORM/презентация.pdf</a:t>
            </a:r>
          </a:p>
          <a:p xmlns:a="http://schemas.openxmlformats.org/drawingml/2006/main">
            <a:r>
              <a:t>C:/Users/1/Downloads/план реформ 5.pdf</a:t>
            </a:r>
          </a:p>
          <a:p xmlns:a="http://schemas.openxmlformats.org/drawingml/2006/main">
            <a:r>
              <a:t>C:/Users/1/Downloads/напишите еще про метод приоритезации плзз.pdf</a:t>
            </a:r>
          </a:p>
          <a:p xmlns:a="http://schemas.openxmlformats.org/drawingml/2006/main">
            <a:r>
              <a:t>F:/RE-FORM-LIFE/docs/PRODUCT.md; requirements.txt</a:t>
            </a:r>
          </a:p>
          <a:p xmlns:a="http://schemas.openxmlformats.org/drawingml/2006/main">
            <a:r>
              <a:t>https://todoist.com/pricing</a:t>
            </a:r>
          </a:p>
          <a:p xmlns:a="http://schemas.openxmlformats.org/drawingml/2006/main">
            <a:r>
              <a:t>https://ticktick.com/about/upgrade</a:t>
            </a:r>
          </a:p>
          <a:p xmlns:a="http://schemas.openxmlformats.org/drawingml/2006/main">
            <a:r>
              <a:t>https://www.notion.com/pricing</a:t>
            </a:r>
          </a:p>
          <a:p xmlns:a="http://schemas.openxmlformats.org/drawingml/2006/main">
            <a:r>
              <a:t>https://sqlite.org/copyright.html</a:t>
            </a:r>
          </a:p>
          <a:p xmlns:a="http://schemas.openxmlformats.org/drawingml/2006/main">
            <a:r>
              <a:t>https://code.visualstudio.com/license</a:t>
            </a:r>
          </a:p>
          <a:p xmlns:a="http://schemas.openxmlformats.org/drawingml/2006/main">
            <a:r>
              <a:t>https://ai.google.dev/gemini-api/docs/available-regions</a:t>
            </a:r>
          </a:p>
          <a:p xmlns:a="http://schemas.openxmlformats.org/drawingml/2006/main">
            <a:r>
              <a:t>Часы, роли, наличие техники и бюджет являются плановыми допущениями.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на 12.10–25.12.2026. Источники: F:/RE_FORM/презентация.pdf</a:t>
            </a:r>
          </a:p>
          <a:p xmlns:a="http://schemas.openxmlformats.org/drawingml/2006/main">
            <a:r>
              <a:t>C:/Users/1/Downloads/план реформ 5.pdf</a:t>
            </a:r>
          </a:p>
          <a:p xmlns:a="http://schemas.openxmlformats.org/drawingml/2006/main">
            <a:r>
              <a:t>C:/Users/1/Downloads/напишите еще про метод приоритезации плзз.pdf</a:t>
            </a:r>
          </a:p>
          <a:p xmlns:a="http://schemas.openxmlformats.org/drawingml/2006/main">
            <a:r>
              <a:t>F:/RE-FORM-LIFE/docs/PRODUCT.md; requirements.txt</a:t>
            </a:r>
          </a:p>
          <a:p xmlns:a="http://schemas.openxmlformats.org/drawingml/2006/main">
            <a:r>
              <a:t>https://todoist.com/pricing</a:t>
            </a:r>
          </a:p>
          <a:p xmlns:a="http://schemas.openxmlformats.org/drawingml/2006/main">
            <a:r>
              <a:t>https://ticktick.com/about/upgrade</a:t>
            </a:r>
          </a:p>
          <a:p xmlns:a="http://schemas.openxmlformats.org/drawingml/2006/main">
            <a:r>
              <a:t>https://www.notion.com/pricing</a:t>
            </a:r>
          </a:p>
          <a:p xmlns:a="http://schemas.openxmlformats.org/drawingml/2006/main">
            <a:r>
              <a:t>https://sqlite.org/copyright.html</a:t>
            </a:r>
          </a:p>
          <a:p xmlns:a="http://schemas.openxmlformats.org/drawingml/2006/main">
            <a:r>
              <a:t>https://code.visualstudio.com/license</a:t>
            </a:r>
          </a:p>
          <a:p xmlns:a="http://schemas.openxmlformats.org/drawingml/2006/main">
            <a:r>
              <a:t>https://ai.google.dev/gemini-api/docs/available-regions</a:t>
            </a:r>
          </a:p>
          <a:p xmlns:a="http://schemas.openxmlformats.org/drawingml/2006/main">
            <a:r>
              <a:t>Часы, роли, наличие техники и бюджет являются плановыми допущениями.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План на 12.10–25.12.2026. Источники: F:/RE_FORM/презентация.pdf</a:t>
            </a:r>
          </a:p>
          <a:p xmlns:a="http://schemas.openxmlformats.org/drawingml/2006/main">
            <a:r>
              <a:t>C:/Users/1/Downloads/план реформ 5.pdf</a:t>
            </a:r>
          </a:p>
          <a:p xmlns:a="http://schemas.openxmlformats.org/drawingml/2006/main">
            <a:r>
              <a:t>C:/Users/1/Downloads/напишите еще про метод приоритезации плзз.pdf</a:t>
            </a:r>
          </a:p>
          <a:p xmlns:a="http://schemas.openxmlformats.org/drawingml/2006/main">
            <a:r>
              <a:t>F:/RE-FORM-LIFE/docs/PRODUCT.md; requirements.txt</a:t>
            </a:r>
          </a:p>
          <a:p xmlns:a="http://schemas.openxmlformats.org/drawingml/2006/main">
            <a:r>
              <a:t>https://todoist.com/pricing</a:t>
            </a:r>
          </a:p>
          <a:p xmlns:a="http://schemas.openxmlformats.org/drawingml/2006/main">
            <a:r>
              <a:t>https://ticktick.com/about/upgrade</a:t>
            </a:r>
          </a:p>
          <a:p xmlns:a="http://schemas.openxmlformats.org/drawingml/2006/main">
            <a:r>
              <a:t>https://www.notion.com/pricing</a:t>
            </a:r>
          </a:p>
          <a:p xmlns:a="http://schemas.openxmlformats.org/drawingml/2006/main">
            <a:r>
              <a:t>https://sqlite.org/copyright.html</a:t>
            </a:r>
          </a:p>
          <a:p xmlns:a="http://schemas.openxmlformats.org/drawingml/2006/main">
            <a:r>
              <a:t>https://code.visualstudio.com/license</a:t>
            </a:r>
          </a:p>
          <a:p xmlns:a="http://schemas.openxmlformats.org/drawingml/2006/main">
            <a:r>
              <a:t>https://ai.google.dev/gemini-api/docs/available-regions</a:t>
            </a:r>
          </a:p>
          <a:p xmlns:a="http://schemas.openxmlformats.org/drawingml/2006/main">
            <a:r>
              <a:t>Часы, роли, наличие техники и бюджет являются плановыми допущениями.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3c1ceb7bc942a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b46142b53e402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40f6df8e564d0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a0179b99c2457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e0603eb77f464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57186106ef424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7EF53CC-D56F-4B32-B595-1952BDBADA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238500"/>
            <a:ext cx="1219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6685EA0-5E31-4BC2-8B26-2F53F533D4F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0" y="47148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3F9453B-E164-4A18-90BF-95B8FA3CBA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571875"/>
            <a:ext cx="1219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CE430B0-910F-4E4B-9696-190D867196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958AC3B-D3A3-4FDE-812E-8033BD3B292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13525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B6E0474-0D2F-4AA1-9C84-C6163D8C84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E2C1D46-7F97-42B6-8EAC-2EC5AAD49D6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84676D1-7BD2-45D0-8314-02255A0C1E5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096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5DEC11A-7D90-4BA7-99CE-FCCDA1A968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17A95AE-0342-4707-B012-3985D6C9EF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9a38f470844ab1" /><Relationship Type="http://schemas.openxmlformats.org/officeDocument/2006/relationships/slideLayout" Target="/ppt/slideLayouts/slideLayout1.xml" Id="R62d8a9dacf494d6a" /><Relationship Type="http://schemas.openxmlformats.org/officeDocument/2006/relationships/slideLayout" Target="/ppt/slideLayouts/slideLayout2.xml" Id="R0419bd5438f4456b" /><Relationship Type="http://schemas.openxmlformats.org/officeDocument/2006/relationships/slideLayout" Target="/ppt/slideLayouts/slideLayout3.xml" Id="R740051450cd24387" /><Relationship Type="http://schemas.openxmlformats.org/officeDocument/2006/relationships/slideLayout" Target="/ppt/slideLayouts/slideLayout4.xml" Id="Rc35989b313f34b37" /><Relationship Type="http://schemas.openxmlformats.org/officeDocument/2006/relationships/slideLayout" Target="/ppt/slideLayouts/slideLayout5.xml" Id="Rd8b95ac4952f4066" /><Relationship Type="http://schemas.openxmlformats.org/officeDocument/2006/relationships/slideLayout" Target="/ppt/slideLayouts/slideLayout6.xml" Id="Re6bd255061724c0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d8a9dacf494d6a"/>
    <p:sldLayoutId xmlns:r="http://schemas.openxmlformats.org/officeDocument/2006/relationships" id="2147483650" r:id="R0419bd5438f4456b"/>
    <p:sldLayoutId xmlns:r="http://schemas.openxmlformats.org/officeDocument/2006/relationships" id="2147483651" r:id="R740051450cd24387"/>
    <p:sldLayoutId xmlns:r="http://schemas.openxmlformats.org/officeDocument/2006/relationships" id="2147483652" r:id="Rc35989b313f34b37"/>
    <p:sldLayoutId xmlns:r="http://schemas.openxmlformats.org/officeDocument/2006/relationships" id="2147483653" r:id="Rd8b95ac4952f4066"/>
    <p:sldLayoutId xmlns:r="http://schemas.openxmlformats.org/officeDocument/2006/relationships" id="2147483654" r:id="Re6bd255061724c0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61db73c327406a" /><Relationship Type="http://schemas.openxmlformats.org/officeDocument/2006/relationships/notesSlide" Target="/ppt/notesSlides/notesSlide1.xml" Id="Re106ae86007a43a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c55944d59d4632" /><Relationship Type="http://schemas.openxmlformats.org/officeDocument/2006/relationships/notesSlide" Target="/ppt/notesSlides/notesSlide2.xml" Id="R93ad2d1f52ab4c9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b2352a4cc1494e" /><Relationship Type="http://schemas.openxmlformats.org/officeDocument/2006/relationships/notesSlide" Target="/ppt/notesSlides/notesSlide3.xml" Id="R322e7803f5b048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22e53adfa448d0" /><Relationship Type="http://schemas.openxmlformats.org/officeDocument/2006/relationships/notesSlide" Target="/ppt/notesSlides/notesSlide4.xml" Id="R5674f9b0bec6496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88f318cbec4f9a" /><Relationship Type="http://schemas.openxmlformats.org/officeDocument/2006/relationships/notesSlide" Target="/ppt/notesSlides/notesSlide5.xml" Id="R2da6def2df1849a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030e09ad0546d3" /><Relationship Type="http://schemas.openxmlformats.org/officeDocument/2006/relationships/notesSlide" Target="/ppt/notesSlides/notesSlide6.xml" Id="Radc1f40d428d4db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6681d90cef4760" /><Relationship Type="http://schemas.openxmlformats.org/officeDocument/2006/relationships/notesSlide" Target="/ppt/notesSlides/notesSlide7.xml" Id="Rd330d2ea6f34443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314e6921644ee1" /><Relationship Type="http://schemas.openxmlformats.org/officeDocument/2006/relationships/notesSlide" Target="/ppt/notesSlides/notesSlide8.xml" Id="Ra845ce3aa0264e2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1964de37b946ac" /><Relationship Type="http://schemas.openxmlformats.org/officeDocument/2006/relationships/notesSlide" Target="/ppt/notesSlides/notesSlide9.xml" Id="R731968b539a444a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504cca74834473" /><Relationship Type="http://schemas.openxmlformats.org/officeDocument/2006/relationships/notesSlide" Target="/ppt/notesSlides/notesSlide10.xml" Id="Rbfddb052c0da4cb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4f0312c1004a27" /><Relationship Type="http://schemas.openxmlformats.org/officeDocument/2006/relationships/notesSlide" Target="/ppt/notesSlides/notesSlide11.xml" Id="Ra1c7eb2fb75648b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cef50150054a5f" /><Relationship Type="http://schemas.openxmlformats.org/officeDocument/2006/relationships/notesSlide" Target="/ppt/notesSlides/notesSlide12.xml" Id="R73f9245ff06c458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2f945959144087" /><Relationship Type="http://schemas.openxmlformats.org/officeDocument/2006/relationships/notesSlide" Target="/ppt/notesSlides/notesSlide13.xml" Id="Rb5faf5db04f8446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e2b577e18542b7" /><Relationship Type="http://schemas.openxmlformats.org/officeDocument/2006/relationships/notesSlide" Target="/ppt/notesSlides/notesSlide14.xml" Id="R5cf5a374f0db48a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9D3E0E-48DA-4BE6-B747-F2623C666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A27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766C1F-44F5-4B00-869A-7B7B604B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9575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RE:FORM LIFE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1D8A06-FC60-4242-AC5D-FFDE18A91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3868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1EEE8"/>
                </a:solidFill>
                <a:latin typeface="Arial"/>
                <a:ea typeface="Arial"/>
                <a:cs typeface="Arial"/>
              </a:rPr>
              <a:t>Ресурсная карта проекта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B4B479-4984-4B19-A5C7-7FDBEC01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3868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Команда: Мария и Вика / 12 октября – 25 декабря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FD4BB7-3371-4FE8-9C40-1370B4BFD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67675"/>
            <a:ext cx="1190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Мария и Вика / Ресурсная карта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B0A5A5-B39E-45A8-B913-229EE57D5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01000"/>
            <a:ext cx="619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6A27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FB1387-F56E-4FCD-948E-C49F047CF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8763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45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5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Что нужно для пилота</a:t>
            </a:r>
          </a:p>
          <a:p xmlns:a="http://schemas.openxmlformats.org/drawingml/2006/main">
            <a:pPr algn="l">
              <a:defRPr sz="45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RE:FORM LIFE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721C76-1922-4561-BF27-E2DCE4154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2858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Люди, техника, программы, информация, деньги и время.</a:t>
            </a:r>
          </a:p>
          <a:p xmlns:a="http://schemas.openxmlformats.org/drawingml/2006/main">
            <a:pPr algn="l">
              <a:defRPr sz="24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Для каждого ресурса указаны количество и задачи ИСР.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C69938-1DE3-4821-84CA-2EBFF39DC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67550"/>
            <a:ext cx="13868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4F61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0F453A-7377-4D27-B52E-0E18F8EA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67550"/>
            <a:ext cx="4619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A27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FE8E1B-2490-4D16-860F-E4343EF1C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7067550"/>
            <a:ext cx="4619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9FA3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6487662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6E05BB-EDBF-4168-8C67-638C83D6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A27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4EED08-6A11-40AF-B626-D295636DA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9575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RE:FORM LIFE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86B295-5CBE-4BDD-BAD8-F2075547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3868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1EEE8"/>
                </a:solidFill>
                <a:latin typeface="Arial"/>
                <a:ea typeface="Arial"/>
                <a:cs typeface="Arial"/>
              </a:rPr>
              <a:t>Команда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B7AC7A-F79D-46D3-83FF-9802A5C9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3868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H1 и H2 / Два участника совмещают несколько ролей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7038A1-6F32-4899-A288-65D8318B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67675"/>
            <a:ext cx="1190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Мария и Вика / Ресурсная карта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4A207A-C237-44E9-A7D3-7E9F3828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01000"/>
            <a:ext cx="619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6A27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196BC7-B9CC-40FE-BD2A-EE6AA7DDDE8D}"/>
              </a:ext>
            </a:extLst>
          </p:cNvPr>
          <p:cNvGraphicFramePr/>
          <p:nvPr/>
        </p:nvGraphicFramePr>
        <p:xfrm>
          <a:off xmlns:a="http://schemas.openxmlformats.org/drawingml/2006/main" x="685800" y="3143250"/>
          <a:ext xmlns:a="http://schemas.openxmlformats.org/drawingml/2006/main" cx="138684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239000"/>
                <a:gridCol w="3486150"/>
              </a:tblGrid>
              <a:tr h="984250">
                <a:tc>
                  <a:txBody>
                    <a:bodyPr lIns="133350" tIns="133350" rIns="133350" bIns="133350"/>
                    <a:lstStyle/>
                    <a:p>
                      <a:r>
                        <a:rPr sz="2250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Участник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250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Работа в проекте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250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Количество часов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</a:tr>
              <a:tr h="984250">
                <a:tc>
                  <a:txBody>
                    <a:bodyPr lIns="133350" tIns="133350" rIns="133350" bIns="133350"/>
                    <a:lstStyle/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H1 / Мария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План, разработка, данные, сборка</a:t>
                      </a:r>
                    </a:p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Особенно ИСР 2.2, 3.1–3.4, 5.2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110 ч работ</a:t>
                      </a:r>
                    </a:p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216 ч доступности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  <a:tr h="984250">
                <a:tc>
                  <a:txBody>
                    <a:bodyPr lIns="133350" tIns="133350" rIns="133350" bIns="133350"/>
                    <a:lstStyle/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H2 / Вика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Исследование, дизайн, тестирование</a:t>
                      </a:r>
                    </a:p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Особенно ИСР 1.2, 2.1, 4.1–4.4, 5.1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124 ч работ</a:t>
                      </a:r>
                    </a:p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216 ч доступности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A0074E-FE7D-436C-B4B6-EE5433D1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0"/>
            <a:ext cx="13868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План: до 20 часов в неделю на человека.</a:t>
            </a:r>
          </a:p>
          <a:p xmlns:a="http://schemas.openxmlformats.org/drawingml/2006/main">
            <a:pPr algn="l">
              <a:defRPr sz="225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Оплата труда в учебном проекте не предусмотрена.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71099B-8EA8-4443-9EAA-0EF6F4F7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0"/>
            <a:ext cx="1386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Роли и занятость нужно подтвердить. Обе участницы задействованы во всех пакетах ИСР.</a:t>
            </a:r>
          </a:p>
        </p:txBody>
      </p:sp>
    </p:spTree>
    <p:extLst>
      <p:ext uri="{BB962C8B-B14F-4D97-AF65-F5344CB8AC3E}">
        <p14:creationId xmlns:p14="http://schemas.microsoft.com/office/powerpoint/2010/main" val="10171859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7583F8-EE1D-4C43-AC42-A23600905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A27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BA4B40-B1CF-45B7-93DE-7B56150D5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9575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RE:FORM LIFE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97B774-C4C0-446C-BA82-ADDB11F5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3868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1EEE8"/>
                </a:solidFill>
                <a:latin typeface="Arial"/>
                <a:ea typeface="Arial"/>
                <a:cs typeface="Arial"/>
              </a:rPr>
              <a:t>Участники исследования и пилота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4FB65C-C876-43BE-BE5D-6FB09EA64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3868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H3 и H4 / Добровольное участие без оплаты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A603B1-6679-42DF-8B8B-5C04A9213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67675"/>
            <a:ext cx="1190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Мария и Вика / Ресурсная карта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EB48DE-B2C9-490C-ACC1-3C2915A9A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01000"/>
            <a:ext cx="619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6A27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072D3B-04CB-48CB-8DCA-115246D58B7F}"/>
              </a:ext>
            </a:extLst>
          </p:cNvPr>
          <p:cNvGraphicFramePr/>
          <p:nvPr/>
        </p:nvGraphicFramePr>
        <p:xfrm>
          <a:off xmlns:a="http://schemas.openxmlformats.org/drawingml/2006/main" x="685800" y="3143250"/>
          <a:ext xmlns:a="http://schemas.openxmlformats.org/drawingml/2006/main" cx="138684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5524500"/>
                <a:gridCol w="4533900"/>
              </a:tblGrid>
              <a:tr h="984250">
                <a:tc>
                  <a:txBody>
                    <a:bodyPr lIns="133350" tIns="133350" rIns="133350" bIns="133350"/>
                    <a:lstStyle/>
                    <a:p>
                      <a:r>
                        <a:rPr sz="2250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Ресурс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250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Сколько нужно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250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Для каких задач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</a:tr>
              <a:tr h="984250">
                <a:tc>
                  <a:txBody>
                    <a:bodyPr lIns="133350" tIns="133350" rIns="133350" bIns="133350"/>
                    <a:lstStyle/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H3 / Исследование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12 интервью и 5 проверок интерфейса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1.2 / Спрос</a:t>
                      </a:r>
                    </a:p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2.1 / Прототип и удобство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  <a:tr h="984250">
                <a:tc>
                  <a:txBody>
                    <a:bodyPr lIns="133350" tIns="133350" rIns="133350" bIns="133350"/>
                    <a:lstStyle/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H4 / Пилот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30 участников + 5 запасных</a:t>
                      </a:r>
                    </a:p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14 календарных дней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4.2–4.4 / Набор, установка, наблюдение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C75589-9C1D-468D-9CF1-C51099D6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0"/>
            <a:ext cx="13868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Участникам нужен компьютер с Windows.</a:t>
            </a:r>
          </a:p>
          <a:p xmlns:a="http://schemas.openxmlformats.org/drawingml/2006/main">
            <a:pPr algn="l">
              <a:defRPr sz="225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Вика проверяет совместимость и подтверждает состав до 27.11.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FAF5BE-FF68-498B-8661-7A5ABF32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0"/>
            <a:ext cx="1386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Группы могут пересекаться. Запасные участники учитываются отдельно от основной когорты.</a:t>
            </a:r>
          </a:p>
        </p:txBody>
      </p:sp>
    </p:spTree>
    <p:extLst>
      <p:ext uri="{BB962C8B-B14F-4D97-AF65-F5344CB8AC3E}">
        <p14:creationId xmlns:p14="http://schemas.microsoft.com/office/powerpoint/2010/main" val="21008942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A76B62-8DC1-4AA2-8EE2-4BE3CDAF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A27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B55808-8C79-4B56-9B38-EAF5761BB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9575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RE:FORM LIFE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B523F1-1813-4E81-B9EA-DCB859412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3868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1EEE8"/>
                </a:solidFill>
                <a:latin typeface="Arial"/>
                <a:ea typeface="Arial"/>
                <a:cs typeface="Arial"/>
              </a:rPr>
              <a:t>Техника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E918C4-6D4A-4010-BDCE-424A04C80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3868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Новые покупки не нужны, если оборудование уже есть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BC44EE-1D74-486B-BA0F-230E04BB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67675"/>
            <a:ext cx="1190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Мария и Вика / Ресурсная карта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DF92ED-5228-4C6A-A301-256DF435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01000"/>
            <a:ext cx="619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6A27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AF1B2E-C531-4C75-A75D-D828BBB440F2}"/>
              </a:ext>
            </a:extLst>
          </p:cNvPr>
          <p:cNvGraphicFramePr/>
          <p:nvPr/>
        </p:nvGraphicFramePr>
        <p:xfrm>
          <a:off xmlns:a="http://schemas.openxmlformats.org/drawingml/2006/main" x="685800" y="3143250"/>
          <a:ext xmlns:a="http://schemas.openxmlformats.org/drawingml/2006/main" cx="138684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143500"/>
                <a:gridCol w="5238750"/>
                <a:gridCol w="3486150"/>
              </a:tblGrid>
              <a:tr h="800100">
                <a:tc>
                  <a:txBody>
                    <a:bodyPr lIns="133350" tIns="133350" rIns="133350" bIns="133350"/>
                    <a:lstStyle/>
                    <a:p>
                      <a:r>
                        <a:rPr sz="2025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Ресурс и количество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025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Зачем нужен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025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ИСР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</a:tr>
              <a:tr h="800100">
                <a:tc>
                  <a:txBody>
                    <a:bodyPr lIns="133350" tIns="133350" rIns="133350" bIns="133350"/>
                    <a:lstStyle/>
                    <a:p>
                      <a:r>
                        <a:rPr sz="202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T1 / 2 рабочих ПК + 1 заёмный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02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Разработка и проверка на 3 конфигурациях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02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2.1–3.4, 4.1, 5.2–5.3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  <a:tr h="800100">
                <a:tc>
                  <a:txBody>
                    <a:bodyPr lIns="133350" tIns="133350" rIns="133350" bIns="133350"/>
                    <a:lstStyle/>
                    <a:p>
                      <a:r>
                        <a:rPr sz="202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T2 / 1 накопитель от 16 ГБ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02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Внешняя копия данных + локальная копия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02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2.2, 3.4, 4.4, 5.3, 5.5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  <a:tr h="800100">
                <a:tc>
                  <a:txBody>
                    <a:bodyPr lIns="133350" tIns="133350" rIns="133350" bIns="133350"/>
                    <a:lstStyle/>
                    <a:p>
                      <a:r>
                        <a:rPr sz="202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T3 / 1 микрофон, 2 подключения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02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Голосовые команды, связь и поддержка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02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3.3, 4.1, 4.3–4.4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  <a:tr h="800100">
                <a:tc>
                  <a:txBody>
                    <a:bodyPr lIns="133350" tIns="133350" rIns="133350" bIns="133350"/>
                    <a:lstStyle/>
                    <a:p>
                      <a:r>
                        <a:rPr sz="202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T4 / 30 ПК участников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02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Установка и работа в пилоте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02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4.3–4.4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EB572E-3532-4D42-A025-588F90AA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0"/>
            <a:ext cx="1386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План новых расходов: 0 ₽ при наличии техники. Мария проверяет её до 2.2 и перед 26.11.</a:t>
            </a:r>
          </a:p>
        </p:txBody>
      </p:sp>
    </p:spTree>
    <p:extLst>
      <p:ext uri="{BB962C8B-B14F-4D97-AF65-F5344CB8AC3E}">
        <p14:creationId xmlns:p14="http://schemas.microsoft.com/office/powerpoint/2010/main" val="13878884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CA4E47-48A9-4B2C-A8AB-0A0A9CE7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A27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221636-16BD-4C13-A665-1A27243F5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9575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RE:FORM LIFE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FCDCF8-B0A1-445A-8B39-7045341B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3868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1EEE8"/>
                </a:solidFill>
                <a:latin typeface="Arial"/>
                <a:ea typeface="Arial"/>
                <a:cs typeface="Arial"/>
              </a:rPr>
              <a:t>Программы и сервисы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F5F7EF-50E0-411F-AAAE-54B89755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3868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Базовый план использует локальные и бесплатные инструменты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C3F443-AD8F-4E05-B02C-7F4C25027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67675"/>
            <a:ext cx="1190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Мария и Вика / Ресурсная карта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B43378-2FB3-4CEB-8637-EC407B62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01000"/>
            <a:ext cx="619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6A27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83A24A-0D25-4DCF-AFEE-1D8BC9D158AF}"/>
              </a:ext>
            </a:extLst>
          </p:cNvPr>
          <p:cNvGraphicFramePr/>
          <p:nvPr/>
        </p:nvGraphicFramePr>
        <p:xfrm>
          <a:off xmlns:a="http://schemas.openxmlformats.org/drawingml/2006/main" x="685800" y="3143250"/>
          <a:ext xmlns:a="http://schemas.openxmlformats.org/drawingml/2006/main" cx="138684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76875"/>
                <a:gridCol w="5000625"/>
                <a:gridCol w="3390900"/>
              </a:tblGrid>
              <a:tr h="682625">
                <a:tc>
                  <a:txBody>
                    <a:bodyPr lIns="133350" tIns="133350" rIns="133350" bIns="133350"/>
                    <a:lstStyle/>
                    <a:p>
                      <a:r>
                        <a:rPr sz="1875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Ресурс и количество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1875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Назначение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1875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ИСР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</a:tr>
              <a:tr h="682625"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S1 / 2 среды разработки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Python, Flask, pywebview, SQLite</a:t>
                      </a:r>
                    </a:p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1 база данных на установку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2.2, 3.1–3.4, 5.2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  <a:tr h="682625"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S2 / 2 редактора, 1 репозиторий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VS Code и Git: код, версии, ошибки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1.3, 2.2–5.5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  <a:tr h="682625"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S3 / 1 комплект макетов, 1 реестр KPI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Дизайн, таблицы и анализ результатов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1.2–2.1, 4.4, 5.1, 5.5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  <a:tr h="682625"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S4 / 1 модель Vosk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Проверка голоса, если включён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3.3, 4.1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  <a:tr h="682625"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S5 / 0 обязательных облачных ключей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Разговор EVE как дополнение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3.3, 4.1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E131DC-71F5-49A4-872C-74327DCB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0"/>
            <a:ext cx="1386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Новые лицензии: 0 ₽ в плане. Перед распространением проверяем лицензии и доступ к API.</a:t>
            </a:r>
          </a:p>
        </p:txBody>
      </p:sp>
    </p:spTree>
    <p:extLst>
      <p:ext uri="{BB962C8B-B14F-4D97-AF65-F5344CB8AC3E}">
        <p14:creationId xmlns:p14="http://schemas.microsoft.com/office/powerpoint/2010/main" val="21265483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E5400E-53C4-4A66-856C-E115D49D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A27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E7B6B6-19F1-4225-9BA7-AAE7DCD55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9575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RE:FORM LIFE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7B4E8F-AAAD-47BD-9A3F-FDFB7F238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3868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1EEE8"/>
                </a:solidFill>
                <a:latin typeface="Arial"/>
                <a:ea typeface="Arial"/>
                <a:cs typeface="Arial"/>
              </a:rPr>
              <a:t>Информация и документы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93F237-0644-4039-A3F5-E9E314E4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3868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Объём материалов задан заранее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368DB5-A424-408A-AB65-5CE95808F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67675"/>
            <a:ext cx="1190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Мария и Вика / Ресурсная карта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1E960A-C0E7-475E-9DA3-896421015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01000"/>
            <a:ext cx="619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6A27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4F65E7-29A4-4A55-A4A0-514977EB2982}"/>
              </a:ext>
            </a:extLst>
          </p:cNvPr>
          <p:cNvGraphicFramePr/>
          <p:nvPr/>
        </p:nvGraphicFramePr>
        <p:xfrm>
          <a:off xmlns:a="http://schemas.openxmlformats.org/drawingml/2006/main" x="685800" y="3143250"/>
          <a:ext xmlns:a="http://schemas.openxmlformats.org/drawingml/2006/main" cx="13868400" cy="3524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91000"/>
                <a:gridCol w="6191250"/>
                <a:gridCol w="3486150"/>
              </a:tblGrid>
              <a:tr h="881063">
                <a:tc>
                  <a:txBody>
                    <a:bodyPr lIns="133350" tIns="133350" rIns="133350" bIns="133350"/>
                    <a:lstStyle/>
                    <a:p>
                      <a:r>
                        <a:rPr sz="2100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Ресурс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Количество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ИСР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</a:tr>
              <a:tr h="881063"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I1 / Исследование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12 протоколов интервью</a:t>
                      </a:r>
                    </a:p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5 UX-чек-листов, не менее 20 анкет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1.2, 2.1, 4.4, 5.1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  <a:tr h="881063"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I2 / Требования и тесты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18 пакетов ИСР, 10 сценариев</a:t>
                      </a:r>
                    </a:p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20 проверок, 3 набора тестовых данных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1.3, 2.2, 4.1, 5.3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  <a:tr h="881063"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I3 / Пилот и итоговый комплект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30 согласий, 1 журнал событий</a:t>
                      </a:r>
                    </a:p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1 комплект документов для сдачи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4.2–4.4, 5.5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9D30EA-6185-45AB-9FCC-CB38C653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0"/>
            <a:ext cx="1386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Вика собирает обратную связь, Мария готовит данные. Личные задачи и суммы расходов не нужны.</a:t>
            </a:r>
          </a:p>
        </p:txBody>
      </p:sp>
    </p:spTree>
    <p:extLst>
      <p:ext uri="{BB962C8B-B14F-4D97-AF65-F5344CB8AC3E}">
        <p14:creationId xmlns:p14="http://schemas.microsoft.com/office/powerpoint/2010/main" val="146561458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34E146-AFE9-45FE-A142-F68F614B8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A27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863969-1F8D-44F3-A7EF-8DE437F23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9575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RE:FORM LIFE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50BDEB-D8FC-4194-A294-F8ACC7B5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3868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1EEE8"/>
                </a:solidFill>
                <a:latin typeface="Arial"/>
                <a:ea typeface="Arial"/>
                <a:cs typeface="Arial"/>
              </a:rPr>
              <a:t>Бюджет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580A7E-BBEB-4E0C-B991-AAB6A51DD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3868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F1 / Лимит дополнительных расходов: 3 000 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E6B450-06FD-478B-B5DB-E072FB206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67675"/>
            <a:ext cx="1190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Мария и Вика / Ресурсная карта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006A8C-1600-43FE-8172-5997B4C3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01000"/>
            <a:ext cx="619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6A27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644F5A-F588-4BAC-804D-CAEFF6EDC1FE}"/>
              </a:ext>
            </a:extLst>
          </p:cNvPr>
          <p:cNvGraphicFramePr/>
          <p:nvPr/>
        </p:nvGraphicFramePr>
        <p:xfrm>
          <a:off xmlns:a="http://schemas.openxmlformats.org/drawingml/2006/main" x="685800" y="3143250"/>
          <a:ext xmlns:a="http://schemas.openxmlformats.org/drawingml/2006/main" cx="138684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1500"/>
                <a:gridCol w="2667000"/>
                <a:gridCol w="6819900"/>
              </a:tblGrid>
              <a:tr h="869156">
                <a:tc>
                  <a:txBody>
                    <a:bodyPr lIns="133350" tIns="133350" rIns="133350" bIns="133350"/>
                    <a:lstStyle/>
                    <a:p>
                      <a:r>
                        <a:rPr sz="2175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Статья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75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План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75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Основание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</a:tr>
              <a:tr h="869156">
                <a:tc>
                  <a:txBody>
                    <a:bodyPr lIns="133350" tIns="133350" rIns="133350" bIns="133350"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Техника и программы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0 ₽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Используем имеющиеся устройства</a:t>
                      </a:r>
                    </a:p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и бесплатные базовые инструменты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  <a:tr h="869156">
                <a:tc>
                  <a:txBody>
                    <a:bodyPr lIns="133350" tIns="133350" rIns="133350" bIns="133350"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Труд и участие в пилоте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0 ₽ выплат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Учебный проект, добровольное участие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  <a:tr h="869156">
                <a:tc>
                  <a:txBody>
                    <a:bodyPr lIns="133350" tIns="133350" rIns="133350" bIns="133350"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Резерв на расходы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До 3 000 ₽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Накопитель, связь, непредвиденные траты</a:t>
                      </a:r>
                    </a:p>
                    <a:p>
                      <a:r>
                        <a:rPr sz="21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ИСР 2.2, 4.2–4.4, 5.5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154475-6CD1-4D72-A3AF-BF33B1E1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0"/>
            <a:ext cx="1386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3 000 ₽ — плановый лимит. Мария проверяет цену перед покупкой и ведёт остаток бюджета.</a:t>
            </a:r>
          </a:p>
        </p:txBody>
      </p:sp>
    </p:spTree>
    <p:extLst>
      <p:ext uri="{BB962C8B-B14F-4D97-AF65-F5344CB8AC3E}">
        <p14:creationId xmlns:p14="http://schemas.microsoft.com/office/powerpoint/2010/main" val="134663832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C5D46F-9F9A-4EA2-A597-DDBD227B0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A27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4655D3-D80A-4AC9-9F02-ACF5CDE48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9575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RE:FORM LIFE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75684F-ACB2-4AD0-8DFD-29D35E4D0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3868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1EEE8"/>
                </a:solidFill>
                <a:latin typeface="Arial"/>
                <a:ea typeface="Arial"/>
                <a:cs typeface="Arial"/>
              </a:rPr>
              <a:t>Время и запас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860B41-E6F2-41FF-ABEE-64DB64A8C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3868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D1 и D2 / 54 рабочих дня, 11 недель. Праздник 04.11 исключён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387C2A-A1E1-4B7D-B846-BA063048C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67675"/>
            <a:ext cx="1190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Мария и Вика / Ресурсная карта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7EF53D-3189-4448-9089-B9E3935BA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01000"/>
            <a:ext cx="619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6A27F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FCA4D1-9C45-4096-BB2B-65FBE3AAC724}"/>
              </a:ext>
            </a:extLst>
          </p:cNvPr>
          <p:cNvGraphicFramePr/>
          <p:nvPr/>
        </p:nvGraphicFramePr>
        <p:xfrm>
          <a:off xmlns:a="http://schemas.openxmlformats.org/drawingml/2006/main" x="685800" y="3143250"/>
          <a:ext xmlns:a="http://schemas.openxmlformats.org/drawingml/2006/main" cx="1386840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619750"/>
                <a:gridCol w="5391150"/>
                <a:gridCol w="2857500"/>
              </a:tblGrid>
              <a:tr h="762000">
                <a:tc>
                  <a:txBody>
                    <a:bodyPr lIns="133350" tIns="133350" rIns="133350" bIns="133350"/>
                    <a:lstStyle/>
                    <a:p>
                      <a:r>
                        <a:rPr sz="2250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На что выделено время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250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Расчёт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250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Часы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</a:tr>
              <a:tr h="762000">
                <a:tc>
                  <a:txBody>
                    <a:bodyPr lIns="133350" tIns="133350" rIns="133350" bIns="133350"/>
                    <a:lstStyle/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D1 / Общая доступность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54 дня × 4 ч × 2 участника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432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  <a:tr h="762000">
                <a:tc>
                  <a:txBody>
                    <a:bodyPr lIns="133350" tIns="133350" rIns="133350" bIns="133350"/>
                    <a:lstStyle/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Работы по ИСР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Мария 110 ч + Вика 124 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234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  <a:tr h="762000">
                <a:tc>
                  <a:txBody>
                    <a:bodyPr lIns="133350" tIns="133350" rIns="133350" bIns="133350"/>
                    <a:lstStyle/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D2 / Сопровождение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20% общей доступности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86,4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  <a:tr h="762000">
                <a:tc>
                  <a:txBody>
                    <a:bodyPr lIns="133350" tIns="133350" rIns="133350" bIns="133350"/>
                    <a:lstStyle/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D2 / Запас времени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432 − 234 − 86,4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25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111,6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C1FE58-DA34-4551-910C-A1C324CF1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0"/>
            <a:ext cx="1386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Запас включает 24.12. Максимум работ за неделю: Мария 18 ч, Вика 19 ч. Сверка — еженедельно.</a:t>
            </a:r>
          </a:p>
        </p:txBody>
      </p:sp>
    </p:spTree>
    <p:extLst>
      <p:ext uri="{BB962C8B-B14F-4D97-AF65-F5344CB8AC3E}">
        <p14:creationId xmlns:p14="http://schemas.microsoft.com/office/powerpoint/2010/main" val="685002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368F94-EE96-4345-946C-B03914BB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A27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1E5847-A0AF-49DC-A0B2-78F3416F7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9575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RE:FORM LIFE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FDC79F-945A-4755-B610-849428080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3868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1EEE8"/>
                </a:solidFill>
                <a:latin typeface="Arial"/>
                <a:ea typeface="Arial"/>
                <a:cs typeface="Arial"/>
              </a:rPr>
              <a:t>Связь с ИСР: начало проекта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7DE372-8410-4D01-A510-78806396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3868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H1, H2, D1 и D2 нужны во всех задачах. Остальные ресурсы указаны в таблице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6DBF5D-FC04-4624-B1F1-8231D1D9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67675"/>
            <a:ext cx="1190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Мария и Вика / Ресурсная карта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4E3433-D054-4F76-8007-934AAB63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01000"/>
            <a:ext cx="619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6A27F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76167F-97E1-44F2-9FCC-5C9548955E88}"/>
              </a:ext>
            </a:extLst>
          </p:cNvPr>
          <p:cNvGraphicFramePr/>
          <p:nvPr/>
        </p:nvGraphicFramePr>
        <p:xfrm>
          <a:off xmlns:a="http://schemas.openxmlformats.org/drawingml/2006/main" x="685800" y="3143250"/>
          <a:ext xmlns:a="http://schemas.openxmlformats.org/drawingml/2006/main" cx="138684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762625"/>
                <a:gridCol w="2809875"/>
                <a:gridCol w="5295900"/>
              </a:tblGrid>
              <a:tr h="571500">
                <a:tc>
                  <a:txBody>
                    <a:bodyPr lIns="133350" tIns="133350" rIns="133350" bIns="133350"/>
                    <a:lstStyle/>
                    <a:p>
                      <a:r>
                        <a:rPr sz="2100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Код и задача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Мария / Вика, 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Ресурсы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</a:tr>
              <a:tr h="571500"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1.1 / Паспорт проекта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3 / 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S3, I3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  <a:tr h="571500"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1.2 / Спрос и альтернативы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4 / 20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H3, S3, I1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  <a:tr h="571500"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1.3 / ИСР и требования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6 / 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S2, S3, I2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  <a:tr h="571500"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2.1 / Прототип и UX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2 / 16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H3, T1, S3, I1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  <a:tr h="571500"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2.2 / Данные и восстановление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16 / 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T1, T2, S1, S2, I2, F1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  <a:tr h="571500"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3.1 / Задачи и привычки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22 / 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T1, S1, S2, I2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C5550B-D786-4472-911B-D96C058B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0"/>
            <a:ext cx="1386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H — люди, T — техника, S — программы, I — информация, F — деньги, D — время.</a:t>
            </a:r>
          </a:p>
        </p:txBody>
      </p:sp>
    </p:spTree>
    <p:extLst>
      <p:ext uri="{BB962C8B-B14F-4D97-AF65-F5344CB8AC3E}">
        <p14:creationId xmlns:p14="http://schemas.microsoft.com/office/powerpoint/2010/main" val="208669524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9E9E1B-BAED-484D-9F76-732C07F48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A27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730F06-FF4F-4339-BA19-B8484F80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9575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RE:FORM LIFE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A5EBA5-D720-4A98-8C3A-5F3ADE0C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3868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1EEE8"/>
                </a:solidFill>
                <a:latin typeface="Arial"/>
                <a:ea typeface="Arial"/>
                <a:cs typeface="Arial"/>
              </a:rPr>
              <a:t>Связь с ИСР: сборка и набор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70E345-D141-4F20-A5EF-3D1E9E57E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3868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H1, H2, D1 и D2 нужны во всех задачах. Остальные ресурсы указаны в таблице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F7928B-32CD-447F-82FF-EFCECB38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67675"/>
            <a:ext cx="1190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Мария и Вика / Ресурсная карта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4CA71C-C158-44EE-BECB-C27CE867D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01000"/>
            <a:ext cx="619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6A27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40557D-1B63-43F6-9A89-F5EF5719F9DE}"/>
              </a:ext>
            </a:extLst>
          </p:cNvPr>
          <p:cNvGraphicFramePr/>
          <p:nvPr/>
        </p:nvGraphicFramePr>
        <p:xfrm>
          <a:off xmlns:a="http://schemas.openxmlformats.org/drawingml/2006/main" x="685800" y="3143250"/>
          <a:ext xmlns:a="http://schemas.openxmlformats.org/drawingml/2006/main" cx="138684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762625"/>
                <a:gridCol w="2809875"/>
                <a:gridCol w="5295900"/>
              </a:tblGrid>
              <a:tr h="571500">
                <a:tc>
                  <a:txBody>
                    <a:bodyPr lIns="133350" tIns="133350" rIns="133350" bIns="133350"/>
                    <a:lstStyle/>
                    <a:p>
                      <a:r>
                        <a:rPr sz="2100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Код и задача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Мария / Вика, 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Ресурсы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</a:tr>
              <a:tr h="571500"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3.2 / Ручной учёт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6 / 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T1, S1, S2, I2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  <a:tr h="571500"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3.3 / Команды EVE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6 / 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T1, T3, S1, S2, S4, S5, I2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  <a:tr h="571500"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3.4 / Интеграция и сборка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10 / 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T1, T2, S1, S2, I3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  <a:tr h="571500"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4.1 / Приёмка пилота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2 / 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T1, T3, S1, S4, I2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  <a:tr h="571500"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4.2 / Набор участников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2 / 14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H4, S3, I3, F1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  <a:tr h="571500"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4.3 / Установка и активация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3 / 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H4, T3, T4, I3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1B0C77-4980-492D-875C-B1BCB315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0"/>
            <a:ext cx="1386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H — люди, T — техника, S — программы, I — информация, F — деньги, D — время.</a:t>
            </a:r>
          </a:p>
        </p:txBody>
      </p:sp>
    </p:spTree>
    <p:extLst>
      <p:ext uri="{BB962C8B-B14F-4D97-AF65-F5344CB8AC3E}">
        <p14:creationId xmlns:p14="http://schemas.microsoft.com/office/powerpoint/2010/main" val="60752607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71836D-C141-4F24-8E1D-E4914C4A9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A27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E91915-A6AA-4EB6-80A5-4A306D95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9575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RE:FORM LIFE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E85722-E714-4D3A-BF98-1935B4CBC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3868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1EEE8"/>
                </a:solidFill>
                <a:latin typeface="Arial"/>
                <a:ea typeface="Arial"/>
                <a:cs typeface="Arial"/>
              </a:rPr>
              <a:t>Связь с ИСР: пилот и итог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EBA5DA-6492-490D-B942-B86578B38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3868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H1, H2, D1 и D2 нужны во всех задачах. Остальные ресурсы указаны в таблице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17908D-5B7D-4253-9A61-4A1B3CA9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67675"/>
            <a:ext cx="1190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Мария и Вика / Ресурсная карта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DC04B2-D1A9-44FC-A19C-CDC0D5E43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01000"/>
            <a:ext cx="619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6A27F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9ED038-6D38-480B-AD78-C5E671ABE4C3}"/>
              </a:ext>
            </a:extLst>
          </p:cNvPr>
          <p:cNvGraphicFramePr/>
          <p:nvPr/>
        </p:nvGraphicFramePr>
        <p:xfrm>
          <a:off xmlns:a="http://schemas.openxmlformats.org/drawingml/2006/main" x="685800" y="3143250"/>
          <a:ext xmlns:a="http://schemas.openxmlformats.org/drawingml/2006/main" cx="138684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762625"/>
                <a:gridCol w="2809875"/>
                <a:gridCol w="5295900"/>
              </a:tblGrid>
              <a:tr h="571500">
                <a:tc>
                  <a:txBody>
                    <a:bodyPr lIns="133350" tIns="133350" rIns="133350" bIns="133350"/>
                    <a:lstStyle/>
                    <a:p>
                      <a:r>
                        <a:rPr sz="2100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Код и задача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Мария / Вика, 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Ресурсы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</a:tr>
              <a:tr h="571500"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4.4 / Пилот и наблюдение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8 / 16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H4, T2, T3, T4, S3, I1, I3, F1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  <a:tr h="571500"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5.1 / Анализ результатов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2 / 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S3, I1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  <a:tr h="571500"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5.2 / Исправления пилота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14 / 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T1, S1, S2, I2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  <a:tr h="571500"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5.3 / Повторная проверка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1 / 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T1, T2, S1, I2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  <a:tr h="571500"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5.4 / Резерв завершения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0 / 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I3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  <a:tr h="571500"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5.5 / Решение и документы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3 / 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2100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T2, S2, S3, I3, F1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6E249E-FA43-4872-A76D-5D540E564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0"/>
            <a:ext cx="1386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H — люди, T — техника, S — программы, I — информация, F — деньги, D — время.</a:t>
            </a:r>
          </a:p>
        </p:txBody>
      </p:sp>
    </p:spTree>
    <p:extLst>
      <p:ext uri="{BB962C8B-B14F-4D97-AF65-F5344CB8AC3E}">
        <p14:creationId xmlns:p14="http://schemas.microsoft.com/office/powerpoint/2010/main" val="20338576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19C9FB-04AE-4846-A86D-B6B215BC9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A27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1DDEE3-4E62-4ADE-BBEE-70444525B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9575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RE:FORM LIFE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E3C35D-C648-4D17-8679-ECEED685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3868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1EEE8"/>
                </a:solidFill>
                <a:latin typeface="Arial"/>
                <a:ea typeface="Arial"/>
                <a:cs typeface="Arial"/>
              </a:rPr>
              <a:t>Если ресурсов не хватает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388496-1CDA-4166-AC44-41529CBCC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3868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Команда проверяет доступность и меняет план при необходимости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FEBD58-82CD-43DA-84C6-71D2EE873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67675"/>
            <a:ext cx="1190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Мария и Вика / Ресурсная карта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66E3EF-204A-4F23-866F-DC56D38B9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01000"/>
            <a:ext cx="619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6A27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0809C2-EF1D-4AAA-BCD0-EB6A56D8861F}"/>
              </a:ext>
            </a:extLst>
          </p:cNvPr>
          <p:cNvGraphicFramePr/>
          <p:nvPr/>
        </p:nvGraphicFramePr>
        <p:xfrm>
          <a:off xmlns:a="http://schemas.openxmlformats.org/drawingml/2006/main" x="685800" y="3143250"/>
          <a:ext xmlns:a="http://schemas.openxmlformats.org/drawingml/2006/main" cx="138684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6667500"/>
                <a:gridCol w="3771900"/>
              </a:tblGrid>
              <a:tr h="682625">
                <a:tc>
                  <a:txBody>
                    <a:bodyPr lIns="133350" tIns="133350" rIns="133350" bIns="133350"/>
                    <a:lstStyle/>
                    <a:p>
                      <a:r>
                        <a:rPr sz="1875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Проблема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1875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Что делаем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1875" b="1">
                          <a:solidFill>
                            <a:srgbClr val="C6A27F"/>
                          </a:solidFill>
                          <a:latin typeface="Arial"/>
                          <a:ea typeface="Arial"/>
                          <a:cs typeface="Arial"/>
                        </a:rPr>
                        <a:t>Кто отвечает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T w="9525">
                      <a:solidFill>
                        <a:srgbClr val="505C6E"/>
                      </a:solidFill>
                      <a:prstDash val="solid"/>
                    </a:lnT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434F61"/>
                    </a:solidFill>
                  </a:tcPr>
                </a:tc>
              </a:tr>
              <a:tr h="682625"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Мало времени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Убираем необязательные функции</a:t>
                      </a:r>
                    </a:p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или пересматриваем срок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Мария и Вика / еженедельно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  <a:tr h="682625"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Нет техники или накопителя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Проверяем цену, используем резерв</a:t>
                      </a:r>
                    </a:p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и повторяем восстановление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Мария / до 2.2 и 26.11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  <a:tr h="682625"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Не набрали 30 участников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Проверяем 5 запасных кандидатов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Вика / 20.11 и 27.11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  <a:tr h="682625"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Ошибка или потеря данных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При критической ошибке останавливаем пилот</a:t>
                      </a:r>
                    </a:p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Исправляем и проверяем повторно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Мария исправляет, Вика проверяет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22636"/>
                    </a:solidFill>
                  </a:tcPr>
                </a:tc>
              </a:tr>
              <a:tr h="682625"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Облачный API недоступен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505C6E"/>
                      </a:solidFill>
                      <a:prstDash val="solid"/>
                    </a:lnL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Используем локальные команды и ручной ввод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  <a:tc>
                  <a:txBody>
                    <a:bodyPr lIns="133350" tIns="133350" rIns="133350" bIns="133350"/>
                    <a:lstStyle/>
                    <a:p>
                      <a:r>
                        <a:rPr sz="1875" b="0">
                          <a:solidFill>
                            <a:srgbClr val="F1EEE8"/>
                          </a:solidFill>
                          <a:latin typeface="Arial"/>
                          <a:ea typeface="Arial"/>
                          <a:cs typeface="Arial"/>
                        </a:rPr>
                        <a:t>Мария / до включения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505C6E"/>
                      </a:solidFill>
                      <a:prstDash val="solid"/>
                    </a:lnR>
                    <a:lnB w="9525">
                      <a:solidFill>
                        <a:srgbClr val="505C6E"/>
                      </a:solidFill>
                      <a:prstDash val="solid"/>
                    </a:lnB>
                    <a:solidFill>
                      <a:srgbClr val="2B3142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0E30F5-10C0-4D2E-BEA4-8FFC47E9A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0"/>
            <a:ext cx="1386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До пилота: 3 успешных восстановления из 3 и 0 открытых критических или серьёзных ошибок.</a:t>
            </a:r>
          </a:p>
        </p:txBody>
      </p:sp>
    </p:spTree>
    <p:extLst>
      <p:ext uri="{BB962C8B-B14F-4D97-AF65-F5344CB8AC3E}">
        <p14:creationId xmlns:p14="http://schemas.microsoft.com/office/powerpoint/2010/main" val="83352350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ADBE80-16F5-4737-8B6B-2B8171FBE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A27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DF352D-5DCC-45E3-841C-53B044911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9575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RE:FORM LIFE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D67FD6-F816-4ADD-BAD9-A8DDC0FBD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3868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1EEE8"/>
                </a:solidFill>
                <a:latin typeface="Arial"/>
                <a:ea typeface="Arial"/>
                <a:cs typeface="Arial"/>
              </a:rPr>
              <a:t>Проверка перед сдачей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AF9CAF-6662-47A8-A492-C6A7A7C7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3868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Каждый участник прикрепляет одну согласованную PDF-презентацию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2AD84A-F96A-4BEF-BEFA-4307C6D5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67675"/>
            <a:ext cx="1190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Мария и Вика / Ресурсная карта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1D6FCB-EA54-4859-AE02-D790E5BB9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01000"/>
            <a:ext cx="619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6A27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E32E86-BBE7-44C6-AD03-F6008A53C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138684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7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7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Все ресурсы имеют название и количество.</a:t>
            </a:r>
          </a:p>
          <a:p xmlns:a="http://schemas.openxmlformats.org/drawingml/2006/main">
            <a:pPr algn="l">
              <a:defRPr sz="27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Каждый ресурс связан с задачами ИСР.</a:t>
            </a:r>
          </a:p>
          <a:p xmlns:a="http://schemas.openxmlformats.org/drawingml/2006/main">
            <a:pPr algn="l">
              <a:defRPr sz="270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Часы, бюджет и доступность отмечены как плановые.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6AEBD3-30AA-4347-97F6-AC97C1A4C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3868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Обратная связь преподавателя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DB41D0-132B-4B41-A7B2-3C2426F1E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3868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Конкретные замечания пока не предоставлены. После получения</a:t>
            </a:r>
          </a:p>
          <a:p xmlns:a="http://schemas.openxmlformats.org/drawingml/2006/main">
            <a:pPr algn="l">
              <a:defRPr sz="225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фиксируем замечание, код ИСР, правку, ответственного и дату проверки.</a:t>
            </a:r>
          </a:p>
        </p:txBody>
      </p:sp>
    </p:spTree>
    <p:extLst>
      <p:ext uri="{BB962C8B-B14F-4D97-AF65-F5344CB8AC3E}">
        <p14:creationId xmlns:p14="http://schemas.microsoft.com/office/powerpoint/2010/main" val="58920914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2226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C1AD62-2BF1-42E9-B48C-38373159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"/>
            <a:ext cx="5143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A27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ECBF6A-C015-4A0F-AEF4-27D1A963C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9575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RE:FORM LIFE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51B85C-19D8-4453-8507-772212122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3868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1EEE8"/>
                </a:solidFill>
                <a:latin typeface="Arial"/>
                <a:ea typeface="Arial"/>
                <a:cs typeface="Arial"/>
              </a:rPr>
              <a:t>Источники и допущения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52A9E1-837F-47A5-81ED-0FE8D2FC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3868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Официальные источники проверены в материалах проекта 14.10.2026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765192-1E44-4BDC-BF16-5CB6633D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67675"/>
            <a:ext cx="1190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Мария и Вика / Ресурсная карта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FA6171-F157-4E96-8FD1-465CF745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01000"/>
            <a:ext cx="619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6A27F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9B91E9-6385-4B67-8218-1D81913C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Основа расчётов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75C6F4-9BAB-40D3-92BC-D8CD0572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6286500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План проекта: 18 пакетов ИСР</a:t>
            </a:r>
          </a:p>
          <a:p xmlns:a="http://schemas.openxmlformats.org/drawingml/2006/main">
            <a:pPr algn="l">
              <a:defRPr sz="225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Исходная презентация RE:FORM LIFE</a:t>
            </a:r>
          </a:p>
          <a:p xmlns:a="http://schemas.openxmlformats.org/drawingml/2006/main">
            <a:pPr algn="l">
              <a:defRPr sz="225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PRODUCT.md и requirements.txt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25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20 ч в неделю, техника и 3 000 ₽</a:t>
            </a:r>
          </a:p>
          <a:p xmlns:a="http://schemas.openxmlformats.org/drawingml/2006/main">
            <a:pPr algn="l">
              <a:defRPr sz="2250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требуют подтверждения команды.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2E4468-1DFF-4EAB-8D52-214C8BF65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86125"/>
            <a:ext cx="65341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C6A27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C6A27F"/>
                </a:solidFill>
                <a:latin typeface="Arial"/>
                <a:ea typeface="Arial"/>
                <a:cs typeface="Arial"/>
              </a:rPr>
              <a:t>Рынок и инструменты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4A735D-8BFC-41CF-A988-9053FE9C7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00500"/>
            <a:ext cx="65341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todoist.com/pricing</a:t>
            </a:r>
          </a:p>
          <a:p xmlns:a="http://schemas.openxmlformats.org/drawingml/2006/main">
            <a:pPr algn="l">
              <a:defRPr sz="2025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ticktick.com/about/upgrade</a:t>
            </a:r>
          </a:p>
          <a:p xmlns:a="http://schemas.openxmlformats.org/drawingml/2006/main">
            <a:pPr algn="l">
              <a:defRPr sz="2025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notion.com/pricing</a:t>
            </a:r>
          </a:p>
          <a:p xmlns:a="http://schemas.openxmlformats.org/drawingml/2006/main">
            <a:pPr algn="l">
              <a:defRPr sz="2025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sqlite.org/copyright.html</a:t>
            </a:r>
          </a:p>
          <a:p xmlns:a="http://schemas.openxmlformats.org/drawingml/2006/main">
            <a:pPr algn="l">
              <a:defRPr sz="2025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code.visualstudio.com/license</a:t>
            </a:r>
          </a:p>
          <a:p xmlns:a="http://schemas.openxmlformats.org/drawingml/2006/main">
            <a:pPr algn="l">
              <a:defRPr sz="2025" b="0">
                <a:solidFill>
                  <a:srgbClr val="F1EEE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1EEE8"/>
                </a:solidFill>
                <a:latin typeface="Arial"/>
                <a:ea typeface="Arial"/>
                <a:cs typeface="Arial"/>
              </a:rPr>
              <a:t>ai.google.dev/gemini-api/docs/available-regions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122F79-9E34-4528-AFF2-AD55129C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0"/>
            <a:ext cx="1386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9B8BC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9B8BC"/>
                </a:solidFill>
                <a:latin typeface="Arial"/>
                <a:ea typeface="Arial"/>
                <a:cs typeface="Arial"/>
              </a:rPr>
              <a:t>У планеров есть бесплатные тарифы. SQLite — public domain. Доступ к Gemini зависит от региона.</a:t>
            </a:r>
          </a:p>
        </p:txBody>
      </p:sp>
    </p:spTree>
    <p:extLst>
      <p:ext uri="{BB962C8B-B14F-4D97-AF65-F5344CB8AC3E}">
        <p14:creationId xmlns:p14="http://schemas.microsoft.com/office/powerpoint/2010/main" val="7722650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2026-10-14T10:55:33.3270000Z</dcterms:created>
  <dcterms:modified xsi:type="dcterms:W3CDTF">2026-10-14T10:55:33.3270000Z</dcterms:modified>
</coreProperties>
</file>