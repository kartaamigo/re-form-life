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45279207c44f36" /><Relationship Type="http://schemas.openxmlformats.org/officeDocument/2006/relationships/extended-properties" Target="/docProps/app.xml" Id="R22b67929a9f84198" /><Relationship Type="http://schemas.openxmlformats.org/officeDocument/2006/relationships/officeDocument" Target="/ppt/presentation.xml" Id="R355bad168b2a47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bda9995105472f"/>
  </p:sldMasterIdLst>
  <p:notesMasterIdLst>
    <p:notesMasterId xmlns:r="http://schemas.openxmlformats.org/officeDocument/2006/relationships" r:id="Ra191ea781a96461d"/>
  </p:notesMasterIdLst>
  <p:sldIdLst>
    <p:sldId xmlns:r="http://schemas.openxmlformats.org/officeDocument/2006/relationships" id="256" r:id="Rdd20c9d86aa843f9"/>
    <p:sldId xmlns:r="http://schemas.openxmlformats.org/officeDocument/2006/relationships" id="257" r:id="Rba84cec4762245fa"/>
    <p:sldId xmlns:r="http://schemas.openxmlformats.org/officeDocument/2006/relationships" id="258" r:id="Rbb9fb04322d34559"/>
    <p:sldId xmlns:r="http://schemas.openxmlformats.org/officeDocument/2006/relationships" id="259" r:id="Rededb2f120ae4c47"/>
    <p:sldId xmlns:r="http://schemas.openxmlformats.org/officeDocument/2006/relationships" id="260" r:id="R08fa4d3c885b46a7"/>
    <p:sldId xmlns:r="http://schemas.openxmlformats.org/officeDocument/2006/relationships" id="261" r:id="Rec3e58e0dac649f4"/>
    <p:sldId xmlns:r="http://schemas.openxmlformats.org/officeDocument/2006/relationships" id="262" r:id="R7f7d3669dc6a4095"/>
    <p:sldId xmlns:r="http://schemas.openxmlformats.org/officeDocument/2006/relationships" id="263" r:id="R254ce36ab24f4a12"/>
    <p:sldId xmlns:r="http://schemas.openxmlformats.org/officeDocument/2006/relationships" id="264" r:id="Rab04beabf14b47c6"/>
    <p:sldId xmlns:r="http://schemas.openxmlformats.org/officeDocument/2006/relationships" id="265" r:id="Rad9e05fcc5de42b4"/>
    <p:sldId xmlns:r="http://schemas.openxmlformats.org/officeDocument/2006/relationships" id="266" r:id="R4b5f8ff6c8864877"/>
    <p:sldId xmlns:r="http://schemas.openxmlformats.org/officeDocument/2006/relationships" id="267" r:id="Rff3dbbf1f8b0496f"/>
    <p:sldId xmlns:r="http://schemas.openxmlformats.org/officeDocument/2006/relationships" id="268" r:id="R9a1a33a030ec46f2"/>
    <p:sldId xmlns:r="http://schemas.openxmlformats.org/officeDocument/2006/relationships" id="269" r:id="R1a832d1b307f4735"/>
    <p:sldId xmlns:r="http://schemas.openxmlformats.org/officeDocument/2006/relationships" id="270" r:id="R90224bcb99da4ccb"/>
    <p:sldId xmlns:r="http://schemas.openxmlformats.org/officeDocument/2006/relationships" id="271" r:id="Rd5f6b73111804ab5"/>
    <p:sldId xmlns:r="http://schemas.openxmlformats.org/officeDocument/2006/relationships" id="272" r:id="R83f93a38f347413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1e4860196f466d" /><Relationship Type="http://schemas.openxmlformats.org/officeDocument/2006/relationships/slideMaster" Target="/ppt/slideMasters/slideMaster1.xml" Id="R9fbda9995105472f" /><Relationship Type="http://schemas.openxmlformats.org/officeDocument/2006/relationships/notesMaster" Target="/ppt/notesMasters/notesMaster1.xml" Id="Ra191ea781a96461d" /><Relationship Type="http://schemas.openxmlformats.org/officeDocument/2006/relationships/presProps" Target="/ppt/presProps.xml" Id="R65b01c992d854ac1" /><Relationship Type="http://schemas.openxmlformats.org/officeDocument/2006/relationships/tableStyles" Target="/ppt/tableStyles.xml" Id="Rac27ef228c104cb0" /><Relationship Type="http://schemas.openxmlformats.org/officeDocument/2006/relationships/slide" Target="/ppt/slides/slide1.xml" Id="Rdd20c9d86aa843f9" /><Relationship Type="http://schemas.openxmlformats.org/officeDocument/2006/relationships/slide" Target="/ppt/slides/slide2.xml" Id="Rba84cec4762245fa" /><Relationship Type="http://schemas.openxmlformats.org/officeDocument/2006/relationships/slide" Target="/ppt/slides/slide3.xml" Id="Rbb9fb04322d34559" /><Relationship Type="http://schemas.openxmlformats.org/officeDocument/2006/relationships/slide" Target="/ppt/slides/slide4.xml" Id="Rededb2f120ae4c47" /><Relationship Type="http://schemas.openxmlformats.org/officeDocument/2006/relationships/slide" Target="/ppt/slides/slide5.xml" Id="R08fa4d3c885b46a7" /><Relationship Type="http://schemas.openxmlformats.org/officeDocument/2006/relationships/slide" Target="/ppt/slides/slide6.xml" Id="Rec3e58e0dac649f4" /><Relationship Type="http://schemas.openxmlformats.org/officeDocument/2006/relationships/slide" Target="/ppt/slides/slide7.xml" Id="R7f7d3669dc6a4095" /><Relationship Type="http://schemas.openxmlformats.org/officeDocument/2006/relationships/slide" Target="/ppt/slides/slide8.xml" Id="R254ce36ab24f4a12" /><Relationship Type="http://schemas.openxmlformats.org/officeDocument/2006/relationships/slide" Target="/ppt/slides/slide9.xml" Id="Rab04beabf14b47c6" /><Relationship Type="http://schemas.openxmlformats.org/officeDocument/2006/relationships/slide" Target="/ppt/slides/slide10.xml" Id="Rad9e05fcc5de42b4" /><Relationship Type="http://schemas.openxmlformats.org/officeDocument/2006/relationships/slide" Target="/ppt/slides/slide11.xml" Id="R4b5f8ff6c8864877" /><Relationship Type="http://schemas.openxmlformats.org/officeDocument/2006/relationships/slide" Target="/ppt/slides/slide12.xml" Id="Rff3dbbf1f8b0496f" /><Relationship Type="http://schemas.openxmlformats.org/officeDocument/2006/relationships/slide" Target="/ppt/slides/slide13.xml" Id="R9a1a33a030ec46f2" /><Relationship Type="http://schemas.openxmlformats.org/officeDocument/2006/relationships/slide" Target="/ppt/slides/slide14.xml" Id="R1a832d1b307f4735" /><Relationship Type="http://schemas.openxmlformats.org/officeDocument/2006/relationships/slide" Target="/ppt/slides/slide15.xml" Id="R90224bcb99da4ccb" /><Relationship Type="http://schemas.openxmlformats.org/officeDocument/2006/relationships/slide" Target="/ppt/slides/slide16.xml" Id="Rd5f6b73111804ab5" /><Relationship Type="http://schemas.openxmlformats.org/officeDocument/2006/relationships/slide" Target="/ppt/slides/slide17.xml" Id="R83f93a38f34741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7b41b38e8847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64d9fb6e314396" /><Relationship Type="http://schemas.openxmlformats.org/officeDocument/2006/relationships/notesMaster" Target="/ppt/notesMasters/notesMaster1.xml" Id="R332bf165828b4f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fc9aa5bc074bb0" /><Relationship Type="http://schemas.openxmlformats.org/officeDocument/2006/relationships/notesMaster" Target="/ppt/notesMasters/notesMaster1.xml" Id="R34c39fa8ecdb43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ba7d27079b4c5e" /><Relationship Type="http://schemas.openxmlformats.org/officeDocument/2006/relationships/notesMaster" Target="/ppt/notesMasters/notesMaster1.xml" Id="R74a23ef9bf3348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18f256866f49ab" /><Relationship Type="http://schemas.openxmlformats.org/officeDocument/2006/relationships/notesMaster" Target="/ppt/notesMasters/notesMaster1.xml" Id="Ree6285e2f56a45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ec960a47c24ea0" /><Relationship Type="http://schemas.openxmlformats.org/officeDocument/2006/relationships/notesMaster" Target="/ppt/notesMasters/notesMaster1.xml" Id="Rec10ada90b4a49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8b7b07b84349f0" /><Relationship Type="http://schemas.openxmlformats.org/officeDocument/2006/relationships/notesMaster" Target="/ppt/notesMasters/notesMaster1.xml" Id="R88fe3c6e2b0d4f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782ab2d5364977" /><Relationship Type="http://schemas.openxmlformats.org/officeDocument/2006/relationships/notesMaster" Target="/ppt/notesMasters/notesMaster1.xml" Id="Rc024638ff9ce42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a8cb0299c24317" /><Relationship Type="http://schemas.openxmlformats.org/officeDocument/2006/relationships/notesMaster" Target="/ppt/notesMasters/notesMaster1.xml" Id="R6dd3b4b10d9145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a69de336a04943" /><Relationship Type="http://schemas.openxmlformats.org/officeDocument/2006/relationships/notesMaster" Target="/ppt/notesMasters/notesMaster1.xml" Id="R9708c9a64f2047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d182a3663d4bea" /><Relationship Type="http://schemas.openxmlformats.org/officeDocument/2006/relationships/notesMaster" Target="/ppt/notesMasters/notesMaster1.xml" Id="R86ea701a7ce44d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91b2fcd0a948b8" /><Relationship Type="http://schemas.openxmlformats.org/officeDocument/2006/relationships/notesMaster" Target="/ppt/notesMasters/notesMaster1.xml" Id="R3b6bc6ce2ae34a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9592f8ed2449e5" /><Relationship Type="http://schemas.openxmlformats.org/officeDocument/2006/relationships/notesMaster" Target="/ppt/notesMasters/notesMaster1.xml" Id="R35b5c3b4083a4af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5b691fa78c4f2c" /><Relationship Type="http://schemas.openxmlformats.org/officeDocument/2006/relationships/notesMaster" Target="/ppt/notesMasters/notesMaster1.xml" Id="R844af2e327a74d4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7d5b76b94b493a" /><Relationship Type="http://schemas.openxmlformats.org/officeDocument/2006/relationships/notesMaster" Target="/ppt/notesMasters/notesMaster1.xml" Id="Re16742e804d149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55ad30fa3aa4402" /><Relationship Type="http://schemas.openxmlformats.org/officeDocument/2006/relationships/notesMaster" Target="/ppt/notesMasters/notesMaster1.xml" Id="Ra0afcd5fc3ea4c9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6aa0bb18c1423c" /><Relationship Type="http://schemas.openxmlformats.org/officeDocument/2006/relationships/notesMaster" Target="/ppt/notesMasters/notesMaster1.xml" Id="Rd3aec92f26e24c6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2bcb6dd229b42ed" /><Relationship Type="http://schemas.openxmlformats.org/officeDocument/2006/relationships/notesMaster" Target="/ppt/notesMasters/notesMaster1.xml" Id="R6d0e5dfcb06d48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F:/RE_FORM/презентация.pdf</a:t>
            </a:r>
          </a:p>
          <a:p xmlns:a="http://schemas.openxmlformats.org/drawingml/2006/main">
            <a:r>
              <a:t>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F:/RE-FORM-LIFE/docs/PRODUCT.md; requirements.txt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F:/RE_FORM/презентация.pdf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F:/RE-FORM-LIFE/docs/PRODUCT.md; requirements.txt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F:/RE-FORM-LIFE/docs/PRODUCT.md; requirements.txt</a:t>
            </a:r>
          </a:p>
          <a:p xmlns:a="http://schemas.openxmlformats.org/drawingml/2006/main">
            <a:r>
              <a:t>https://sqlite.org/copyright.html</a:t>
            </a:r>
          </a:p>
          <a:p xmlns:a="http://schemas.openxmlformats.org/drawingml/2006/main">
            <a:r>
              <a:t>https://code.visualstudio.com/license</a:t>
            </a:r>
          </a:p>
          <a:p xmlns:a="http://schemas.openxmlformats.org/drawingml/2006/main">
            <a:r>
              <a:t>https://ai.google.dev/gemini-api/docs/available-regions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https://todoist.com/pricing</a:t>
            </a:r>
          </a:p>
          <a:p xmlns:a="http://schemas.openxmlformats.org/drawingml/2006/main">
            <a:r>
              <a:t>https://ticktick.com/about/upgrade</a:t>
            </a:r>
          </a:p>
          <a:p xmlns:a="http://schemas.openxmlformats.org/drawingml/2006/main">
            <a:r>
              <a:t>https://www.notion.com/pricing</a:t>
            </a:r>
          </a:p>
          <a:p xmlns:a="http://schemas.openxmlformats.org/drawingml/2006/main">
            <a:r>
              <a:t>https://sqlite.org/copyright.html</a:t>
            </a:r>
          </a:p>
          <a:p xmlns:a="http://schemas.openxmlformats.org/drawingml/2006/main">
            <a:r>
              <a:t>https://code.visualstudio.com/license</a:t>
            </a:r>
          </a:p>
          <a:p xmlns:a="http://schemas.openxmlformats.org/drawingml/2006/main">
            <a:r>
              <a:t>https://ai.google.dev/gemini-api/docs/available-regions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F:/RE_FORM/презентация.pdf</a:t>
            </a:r>
          </a:p>
          <a:p xmlns:a="http://schemas.openxmlformats.org/drawingml/2006/main">
            <a:r>
              <a:t>C:/Users/1/Downloads/план реформ 5.pdf</a:t>
            </a:r>
          </a:p>
          <a:p xmlns:a="http://schemas.openxmlformats.org/drawingml/2006/main">
            <a:r>
              <a:t>C:/Users/1/Downloads/напишите еще про метод приоритезации плзз.pdf</a:t>
            </a:r>
          </a:p>
          <a:p xmlns:a="http://schemas.openxmlformats.org/drawingml/2006/main">
            <a:r>
              <a:t>F:/RE-FORM-LIFE/docs/PRODUCT.md; requirements.txt</a:t>
            </a:r>
          </a:p>
          <a:p xmlns:a="http://schemas.openxmlformats.org/drawingml/2006/main">
            <a:r>
              <a:t>https://todoist.com/pricing</a:t>
            </a:r>
          </a:p>
          <a:p xmlns:a="http://schemas.openxmlformats.org/drawingml/2006/main">
            <a:r>
              <a:t>https://ticktick.com/about/upgrade</a:t>
            </a:r>
          </a:p>
          <a:p xmlns:a="http://schemas.openxmlformats.org/drawingml/2006/main">
            <a:r>
              <a:t>https://www.notion.com/pricing</a:t>
            </a:r>
          </a:p>
          <a:p xmlns:a="http://schemas.openxmlformats.org/drawingml/2006/main">
            <a:r>
              <a:t>https://sqlite.org/copyright.html</a:t>
            </a:r>
          </a:p>
          <a:p xmlns:a="http://schemas.openxmlformats.org/drawingml/2006/main">
            <a:r>
              <a:t>https://code.visualstudio.com/license</a:t>
            </a:r>
          </a:p>
          <a:p xmlns:a="http://schemas.openxmlformats.org/drawingml/2006/main">
            <a:r>
              <a:t>https://ai.google.dev/gemini-api/docs/available-regions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f2c4e40e684e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d6fcbcce04dc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5aad8992c43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5bfe3e29eb428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c4e61587f343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042f24e6e243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6C6A73-2D73-4BD6-A052-FA9974D0C7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E03F6F-5D4B-49F0-A215-017C142F11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FD4D072-937A-480B-800E-7B2D3D811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B7B949-B255-42DE-8D57-A215F8FF9D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C65502-900C-40AC-9FC9-84B5C79EF2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F06E3F7-87C9-4164-B785-655C86E9DA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EBBB06-550B-4381-9811-991BBF75CF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5995DD-95B8-4264-ACD4-9ABFEE4646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1F2AF5-D1B9-480B-8AF3-4FC5BB1A66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2751158-E883-40BE-BEB6-2B115B61FC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bfc76220824a74" /><Relationship Type="http://schemas.openxmlformats.org/officeDocument/2006/relationships/slideLayout" Target="/ppt/slideLayouts/slideLayout1.xml" Id="R2f6dea6fa62d4a57" /><Relationship Type="http://schemas.openxmlformats.org/officeDocument/2006/relationships/slideLayout" Target="/ppt/slideLayouts/slideLayout2.xml" Id="Rb793d2b98d7f48ab" /><Relationship Type="http://schemas.openxmlformats.org/officeDocument/2006/relationships/slideLayout" Target="/ppt/slideLayouts/slideLayout3.xml" Id="R338f3f68fd394870" /><Relationship Type="http://schemas.openxmlformats.org/officeDocument/2006/relationships/slideLayout" Target="/ppt/slideLayouts/slideLayout4.xml" Id="R80f1eade6e4a42d1" /><Relationship Type="http://schemas.openxmlformats.org/officeDocument/2006/relationships/slideLayout" Target="/ppt/slideLayouts/slideLayout5.xml" Id="R02b457f69ca24369" /><Relationship Type="http://schemas.openxmlformats.org/officeDocument/2006/relationships/slideLayout" Target="/ppt/slideLayouts/slideLayout6.xml" Id="R7c568efb740943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6dea6fa62d4a57"/>
    <p:sldLayoutId xmlns:r="http://schemas.openxmlformats.org/officeDocument/2006/relationships" id="2147483650" r:id="Rb793d2b98d7f48ab"/>
    <p:sldLayoutId xmlns:r="http://schemas.openxmlformats.org/officeDocument/2006/relationships" id="2147483651" r:id="R338f3f68fd394870"/>
    <p:sldLayoutId xmlns:r="http://schemas.openxmlformats.org/officeDocument/2006/relationships" id="2147483652" r:id="R80f1eade6e4a42d1"/>
    <p:sldLayoutId xmlns:r="http://schemas.openxmlformats.org/officeDocument/2006/relationships" id="2147483653" r:id="R02b457f69ca24369"/>
    <p:sldLayoutId xmlns:r="http://schemas.openxmlformats.org/officeDocument/2006/relationships" id="2147483654" r:id="R7c568efb740943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2bdfcd630f4788" /><Relationship Type="http://schemas.openxmlformats.org/officeDocument/2006/relationships/image" Target="/ppt/media/image.png" Id="Rda63e581ae7b424d" /><Relationship Type="http://schemas.openxmlformats.org/officeDocument/2006/relationships/notesSlide" Target="/ppt/notesSlides/notesSlide1.xml" Id="R44c740038fb141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7271b6044f45a8" /><Relationship Type="http://schemas.openxmlformats.org/officeDocument/2006/relationships/notesSlide" Target="/ppt/notesSlides/notesSlide2.xml" Id="R126d4f6d076346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f33db3aed94f68" /><Relationship Type="http://schemas.openxmlformats.org/officeDocument/2006/relationships/notesSlide" Target="/ppt/notesSlides/notesSlide3.xml" Id="R1afeb3e3654547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5b6198fd5643d9" /><Relationship Type="http://schemas.openxmlformats.org/officeDocument/2006/relationships/notesSlide" Target="/ppt/notesSlides/notesSlide4.xml" Id="Rc112b9a125454e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add03e98a14889" /><Relationship Type="http://schemas.openxmlformats.org/officeDocument/2006/relationships/notesSlide" Target="/ppt/notesSlides/notesSlide5.xml" Id="Rc139142f45fb4e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c3c8a122c3422f" /><Relationship Type="http://schemas.openxmlformats.org/officeDocument/2006/relationships/notesSlide" Target="/ppt/notesSlides/notesSlide6.xml" Id="R42818cd0bbca47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48bf22dad74dfd" /><Relationship Type="http://schemas.openxmlformats.org/officeDocument/2006/relationships/notesSlide" Target="/ppt/notesSlides/notesSlide7.xml" Id="Ra348334ce8c649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0b469e90224a4c" /><Relationship Type="http://schemas.openxmlformats.org/officeDocument/2006/relationships/notesSlide" Target="/ppt/notesSlides/notesSlide8.xml" Id="R7fcb3262a9404c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7fd3faff16435a" /><Relationship Type="http://schemas.openxmlformats.org/officeDocument/2006/relationships/notesSlide" Target="/ppt/notesSlides/notesSlide9.xml" Id="Re2c14b8bafc04f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f45c7f0fdf4718" /><Relationship Type="http://schemas.openxmlformats.org/officeDocument/2006/relationships/notesSlide" Target="/ppt/notesSlides/notesSlide10.xml" Id="Rab339a3ba9e147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e276321c644f82" /><Relationship Type="http://schemas.openxmlformats.org/officeDocument/2006/relationships/notesSlide" Target="/ppt/notesSlides/notesSlide11.xml" Id="Rb32ca5fb61d04c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7b7b6e8cbb456d" /><Relationship Type="http://schemas.openxmlformats.org/officeDocument/2006/relationships/notesSlide" Target="/ppt/notesSlides/notesSlide12.xml" Id="R643e9c4b045540a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c10624b3974931" /><Relationship Type="http://schemas.openxmlformats.org/officeDocument/2006/relationships/notesSlide" Target="/ppt/notesSlides/notesSlide13.xml" Id="Rc18f8077a10947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3f86c3ba004ad5" /><Relationship Type="http://schemas.openxmlformats.org/officeDocument/2006/relationships/notesSlide" Target="/ppt/notesSlides/notesSlide14.xml" Id="R117725bd3ca4478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302dfba1d6411d" /><Relationship Type="http://schemas.openxmlformats.org/officeDocument/2006/relationships/notesSlide" Target="/ppt/notesSlides/notesSlide15.xml" Id="Rbea53b4224bf44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658d2b099c4b19" /><Relationship Type="http://schemas.openxmlformats.org/officeDocument/2006/relationships/notesSlide" Target="/ppt/notesSlides/notesSlide16.xml" Id="Rb29918f8000c4b0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c7608337ae4f28" /><Relationship Type="http://schemas.openxmlformats.org/officeDocument/2006/relationships/notesSlide" Target="/ppt/notesSlides/notesSlide17.xml" Id="R4febe8b0e87641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79F22-49A6-439B-9BEE-FF550AAC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AA77B-A656-47F0-B428-122E8D45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Ресурсная карта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DE80B-DF12-4F69-ABE0-DADFADA8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RE:FORM LIFE   /   Мария и Вика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36EBD-AC78-4F92-BBF1-34D6DB5C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Ресурсная карта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C2B7A-EA1F-4203-B2E5-3F9E50D8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A5A74-069E-4AA0-85ED-637EEE18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762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Закрытый пилот настольного приложения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7A22D-50F1-4290-B9EF-7BDD2FCB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781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12.10–25.12.2026</a:t>
            </a:r>
          </a:p>
          <a:p xmlns:a="http://schemas.openxmlformats.org/drawingml/2006/main">
            <a:pPr algn="l">
              <a:defRPr sz="240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Плановая версия 14 октября 2026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22D58-5468-410C-9C1B-924047C35F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3e581ae7b424d"/>
          <a:stretch xmlns:a="http://schemas.openxmlformats.org/drawingml/2006/main"/>
        </p:blipFill>
        <p:spPr>
          <a:xfrm xmlns:a="http://schemas.openxmlformats.org/drawingml/2006/main">
            <a:off x="8859081" y="2952750"/>
            <a:ext cx="5427589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887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C2A0C-FA7B-4A16-BCA1-F43ABC88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8B01F-7D29-4135-956E-A4562B55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Паспорт ресурсной карты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8D223-BAEF-4477-81BE-FDD93B7B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Цель: обеспечить стабилизацию прототипа и пилот на 30 участниках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17E32-E839-4021-A1C2-17C9BE92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Ресурсная карта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9F1B7-BF2C-4B8B-A5E3-CA7DEF7B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1B28A-F7FD-4C49-8051-F2D078D09D26}"/>
              </a:ext>
            </a:extLst>
          </p:cNvPr>
          <p:cNvGraphicFramePr/>
          <p:nvPr/>
        </p:nvGraphicFramePr>
        <p:xfrm>
          <a:off xmlns:a="http://schemas.openxmlformats.org/drawingml/2006/main" x="685800" y="2914650"/>
          <a:ext xmlns:a="http://schemas.openxmlformats.org/drawingml/2006/main" cx="13868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9391650"/>
              </a:tblGrid>
              <a:tr h="682625"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Поле единого шаблона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Что фиксируем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682625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Код и тип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H — люди, T — техника, S — ПО, I — информация, F — деньги, D — время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82625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Наименование и количество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Конкретный ресурс, число единиц, объём часов или документов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82625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Связь с ИСР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Пакеты работ, которые используют ресурс. Всего 18 пакетов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82625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Стоимость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Дополнительные расходы в рублях. Труд учитываем отдельно в часах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82625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Основание и контроль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Источник, допущение, ответственный и срок проверки доступности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11743-E3D7-4B34-AD33-2F81595F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86625"/>
            <a:ext cx="13868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Команда подтверждена. Роли, занятость, техника и лимит расходов — плановые допущения. Вехи и критерии приёмки относятся к стабилизации существующего кода.</a:t>
            </a:r>
          </a:p>
        </p:txBody>
      </p:sp>
    </p:spTree>
    <p:extLst>
      <p:ext uri="{BB962C8B-B14F-4D97-AF65-F5344CB8AC3E}">
        <p14:creationId xmlns:p14="http://schemas.microsoft.com/office/powerpoint/2010/main" val="795323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10B3F-990F-43A2-9AA5-065E7FE5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29245-4425-45A9-8395-40EF9058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H1–H2: команда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F02BF-C602-4488-A12C-4F135D07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Два участника совмещают роли. Ответственность остаётся у команды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C13D5-999D-4789-9DDF-069FE22B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Ресурсная карта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60075-4CE1-4BCD-A2C2-7CED5177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EA471-6BDE-427A-B941-F8AFFF235D8E}"/>
              </a:ext>
            </a:extLst>
          </p:cNvPr>
          <p:cNvGraphicFramePr/>
          <p:nvPr/>
        </p:nvGraphicFramePr>
        <p:xfrm>
          <a:off xmlns:a="http://schemas.openxmlformats.org/drawingml/2006/main" x="685800" y="3019425"/>
          <a:ext xmlns:a="http://schemas.openxmlformats.org/drawingml/2006/main" cx="138684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4762500"/>
                <a:gridCol w="5867400"/>
              </a:tblGrid>
              <a:tr h="889000">
                <a:tc>
                  <a:txBody>
                    <a:bodyPr lIns="114300" tIns="114300" rIns="114300" bIns="114300"/>
                    <a:lstStyle/>
                    <a:p>
                      <a:r>
                        <a:rPr sz="21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Ресурс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Количество и доступность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Задачи и связь с ИСР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889000"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H1 · Мария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 человек, 216 ч доступности</a:t>
                      </a:r>
                    </a:p>
                    <a:p>
                      <a:r>
                        <a:rPr sz="21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110 ч пакетов работ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Управление, данные, код, сборки и исправления. Особенно 2.2, 3.1–3.4, 5.2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889000"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H2 · Вика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 человек, 216 ч доступности</a:t>
                      </a:r>
                    </a:p>
                    <a:p>
                      <a:r>
                        <a:rPr sz="21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124 ч пакетов работ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Исследование, UX, набор, QA и анализ. Особенно 1.2, 2.1, 4.1–4.4, 5.1, 5.3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55E0B-952C-49C5-9330-DAB5261F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13868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Плановая занятость: до 20 ч в полную неделю на человека, в среднем 4 ч в рабочий день. Распределение ролей требует согласования с участниками.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24338-80E5-4F7E-A266-00331C7A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91375"/>
            <a:ext cx="13868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Выплаты в учебном проекте не предусмотрены. Это не означает нулевую рыночную стоимость труда. ИИ помогает с кодом и отладкой, но не считается отдельным сотрудником.</a:t>
            </a:r>
          </a:p>
        </p:txBody>
      </p:sp>
    </p:spTree>
    <p:extLst>
      <p:ext uri="{BB962C8B-B14F-4D97-AF65-F5344CB8AC3E}">
        <p14:creationId xmlns:p14="http://schemas.microsoft.com/office/powerpoint/2010/main" val="744230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F4D3E-9C42-42A0-B4EB-AF24E831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A21F7-B390-4E8B-8244-5AE66EDD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H3–H4: пользователи для исследования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AE39F-3FF1-4327-AFDC-6CD94B93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Выборки помогают проверить потребность и удобство. Они не доказывают размер рынка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D0A3D-CBD6-4A98-B93C-176E2749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Ресурсная карта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373DF-5BAB-4AC7-BDDB-321F9A70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482FA-72DB-4113-AB36-B46B7CC3F15E}"/>
              </a:ext>
            </a:extLst>
          </p:cNvPr>
          <p:cNvGraphicFramePr/>
          <p:nvPr/>
        </p:nvGraphicFramePr>
        <p:xfrm>
          <a:off xmlns:a="http://schemas.openxmlformats.org/drawingml/2006/main" x="685800" y="2952750"/>
          <a:ext xmlns:a="http://schemas.openxmlformats.org/drawingml/2006/main" cx="138684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5238750"/>
                <a:gridCol w="5391150"/>
              </a:tblGrid>
              <a:tr h="809625"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Ресурс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Количество и назначение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ИСР / контроль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809625"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H3 · Исследование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12 интервью и 5 UX-сессий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1.2, 2.1. Вика набирает респондентов до 15.10 и UX-группу до 29.10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809625"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H4 · Пилотная когорта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30 участников и 5 запасных</a:t>
                      </a:r>
                    </a:p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14 календарных дней наблюдения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4.2–4.4. Подтверждение участия до 27.11, активация 30.11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809625"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Условия участия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Добровольно, без вознаграждений</a:t>
                      </a:r>
                    </a:p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Совместимый Windows-компьютер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Вика проверяет устройство и согласие при наборе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1C5BE-AFA3-49DC-BF8B-35DB8566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0"/>
            <a:ext cx="13868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Группы могут пересекаться, поэтому 12 + 5 + 30 не равны 47 уникальным людям. Запасные и поздние участники учитываются отдельно от D7-когорты.</a:t>
            </a:r>
          </a:p>
        </p:txBody>
      </p:sp>
    </p:spTree>
    <p:extLst>
      <p:ext uri="{BB962C8B-B14F-4D97-AF65-F5344CB8AC3E}">
        <p14:creationId xmlns:p14="http://schemas.microsoft.com/office/powerpoint/2010/main" val="20552511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36DD7-431C-43FC-96A7-13B8E3FF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57D12-96BC-40DC-A5F6-AAE9F2AE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T1–T4: техника и инфраструктура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A9597-5076-490A-94E1-91341C25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Новые покупки не заложены при наличии собственной и заёмной техники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42C4B-385E-4E84-9878-8D50ECE9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Ресурсная карта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3F982-3A17-4863-AC2D-512643CE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4B743-1AE0-4DB3-A58B-65CE135625CA}"/>
              </a:ext>
            </a:extLst>
          </p:cNvPr>
          <p:cNvGraphicFramePr/>
          <p:nvPr/>
        </p:nvGraphicFramePr>
        <p:xfrm>
          <a:off xmlns:a="http://schemas.openxmlformats.org/drawingml/2006/main" x="685800" y="2952750"/>
          <a:ext xmlns:a="http://schemas.openxmlformats.org/drawingml/2006/main" cx="138684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4953000"/>
                <a:gridCol w="4152900"/>
              </a:tblGrid>
              <a:tr h="857250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Ресурс / количество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Назначение / ИСР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Стоимость и проверка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8572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T1 · 2 рабочих ПК + 1 заёмный Windows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Разработка и QA на 3 конфигурациях</a:t>
                      </a:r>
                    </a:p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2.1–3.4, 4.1, 5.2, 5.3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0 ₽ новых покупок. Мария подтверждает наличие до проектирования и до 26.11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8572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T2 · 1 внешний накопитель ≥16 ГБ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 копии: локальная и внешняя</a:t>
                      </a:r>
                    </a:p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2.2, 3.4, 4.4, 5.3, 5.5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0 ₽ при наличии. Ёмкость и целостность проверяем в 2.2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8572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T3 · 1 микрофон, 2 интернет-подключения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Голос, обмен файлами, поддержка</a:t>
                      </a:r>
                    </a:p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3.3, 4.1, 4.3–4.4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0 ₽ дополнительных затрат. Голос опционален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8572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T4 · 30 Windows-ПК участников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Установка и ежедневные сценарии</a:t>
                      </a:r>
                    </a:p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4.3, 4.4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0 ₽ покупок за счёт проекта. Вика проверяет совместимость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38275-51A7-4150-BFC0-316B030E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48550"/>
            <a:ext cx="1386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Наличие техники — допущение. Минимальные системные требования и фактический размер копии фиксируем после аудита 2.2. Если носителя нет, проверяем цену перед покупкой.</a:t>
            </a:r>
          </a:p>
        </p:txBody>
      </p:sp>
    </p:spTree>
    <p:extLst>
      <p:ext uri="{BB962C8B-B14F-4D97-AF65-F5344CB8AC3E}">
        <p14:creationId xmlns:p14="http://schemas.microsoft.com/office/powerpoint/2010/main" val="2750699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2203C-0D81-4DB5-BA3A-F9F298C4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553DF-F5DE-4D56-B681-1813950E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S1–S5: программные ресурсы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28AC7-5804-4CF3-BBA2-6E862D13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Базовые сценарии работают локально, платный сервер и облачный ИИ не обязательны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3BB5B-D1F5-4B15-B0DD-D1D9A5D9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Ресурсная карта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ED243-8AA9-490D-8516-1F5182CB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03DE7-00C3-48B7-A429-7330FA5EE582}"/>
              </a:ext>
            </a:extLst>
          </p:cNvPr>
          <p:cNvGraphicFramePr/>
          <p:nvPr/>
        </p:nvGraphicFramePr>
        <p:xfrm>
          <a:off xmlns:a="http://schemas.openxmlformats.org/drawingml/2006/main" x="685800" y="2914650"/>
          <a:ext xmlns:a="http://schemas.openxmlformats.org/drawingml/2006/main" cx="138684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05375"/>
                <a:gridCol w="4857750"/>
                <a:gridCol w="4105275"/>
              </a:tblGrid>
              <a:tr h="7620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Ресурс / количество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Использование / ИСР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Расходы и условия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76200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S1 · 2 среды разработки, 1 база на установку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Python, Flask, pywebview, SQLite</a:t>
                      </a:r>
                    </a:p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2.2, 3.1–3.4, 5.2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0 ₽ новых лицензий базового стека. Версии в requirements.txt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76200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S2 · 2 редактора кода, 1 Git-репозиторий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Версии, баги и резерв кода</a:t>
                      </a:r>
                    </a:p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1.3, 2.2–5.5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VS Code и Git, без платных расширений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76200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S3 · 1 комплект макетов и 1 реестр KPI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UX, исследование, аналитика</a:t>
                      </a:r>
                    </a:p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1.2–2.1, 4.4, 5.1, 5.5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Имеющийся редактор или LibreOffice, без подписки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76200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S4 · 1 локальная модель Vosk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Тест опционального голоса</a:t>
                      </a:r>
                    </a:p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3.3, 4.1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Размер и лицензию конкретной модели проверяем в 2.2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76200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S5 · 0 обязательных облачных ключей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Разговор EVE — опциональное расширение</a:t>
                      </a:r>
                    </a:p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3.3, 4.1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0 ₽ в базовом плане. Регион, тариф и оплату проверяем отдельно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E5016-D292-439A-9763-55A5B379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43800"/>
            <a:ext cx="1386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SQLite — public domain. Перед распространением проверяем лицензии библиотек и моделей. Бесплатность инструмента не подтверждает доступность облачного сервиса в регионе.</a:t>
            </a:r>
          </a:p>
        </p:txBody>
      </p:sp>
    </p:spTree>
    <p:extLst>
      <p:ext uri="{BB962C8B-B14F-4D97-AF65-F5344CB8AC3E}">
        <p14:creationId xmlns:p14="http://schemas.microsoft.com/office/powerpoint/2010/main" val="16539604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A23AE-8947-4F38-AD12-2F326402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BBD21-45BD-457E-A24C-E6795FF2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I1–I3: информационные ресурсы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BE8B3-AA52-4493-95FC-379D8D44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Материалы исследования, приёмки и сдачи имеют измеримый объём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9A946-675D-447A-A50E-7E035C4A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Ресурсная карта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D3AFB-39FC-488E-9794-44C1B2A8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2EA8C-FB55-415C-9D0C-8BFF60F08B76}"/>
              </a:ext>
            </a:extLst>
          </p:cNvPr>
          <p:cNvGraphicFramePr/>
          <p:nvPr/>
        </p:nvGraphicFramePr>
        <p:xfrm>
          <a:off xmlns:a="http://schemas.openxmlformats.org/drawingml/2006/main" x="685800" y="2952750"/>
          <a:ext xmlns:a="http://schemas.openxmlformats.org/drawingml/2006/main" cx="138684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5048250"/>
                <a:gridCol w="4533900"/>
              </a:tblGrid>
              <a:tr h="821531"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Ресурс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Количество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Связь с ИСР / владелец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821531"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I1 · Исследование и обратная связь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12 протоколов интервью</a:t>
                      </a:r>
                    </a:p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5 UX-чек-листов, ≥20 анкет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1.2, 2.1, 4.4, 5.1</a:t>
                      </a:r>
                    </a:p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Вика собирает, обе анализируют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821531"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I2 · Требования и тестовые данные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18 пакетов, 10 сценариев</a:t>
                      </a:r>
                    </a:p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20 проверок, 3 набора данных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1.3, 2.2, 4.1, 5.3</a:t>
                      </a:r>
                    </a:p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Мария: данные, Вика: QA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821531"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I3 · Согласия и комплект сдачи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30 согласий, 1 журнал событий</a:t>
                      </a:r>
                    </a:p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 комплект документов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4.2–4.4, 5.5</a:t>
                      </a:r>
                    </a:p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Вика: согласия, обе: итоговый пакет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DC695-DA5A-4BFF-9C40-25FFFB7C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48450"/>
            <a:ext cx="13868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События: идентификатор, тип действия, дата и версия сборки. Для анализа не нужны тексты личных задач и суммы расходов. Данные собираем с согласия, иначе используем дневник и сверку QA.</a:t>
            </a:r>
          </a:p>
        </p:txBody>
      </p:sp>
    </p:spTree>
    <p:extLst>
      <p:ext uri="{BB962C8B-B14F-4D97-AF65-F5344CB8AC3E}">
        <p14:creationId xmlns:p14="http://schemas.microsoft.com/office/powerpoint/2010/main" val="18342351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FB056-08D1-4907-854F-453E1975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A3426-C441-4EB2-AF68-6DC4F0CA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F1: финансовые ресурсы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74A52-0A9C-4991-BFFE-80E61AFB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Лимит расходов отделён от часов труда и стоимости владения техникой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1C3A0-AE9D-4EF7-B5E7-DCD68FC3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Ресурсная карта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4C64B-DBA7-4837-B6A0-AC3368EC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DC91D-A31B-4B2B-B7F9-B787A81E35A0}"/>
              </a:ext>
            </a:extLst>
          </p:cNvPr>
          <p:cNvGraphicFramePr/>
          <p:nvPr/>
        </p:nvGraphicFramePr>
        <p:xfrm>
          <a:off xmlns:a="http://schemas.openxmlformats.org/drawingml/2006/main" x="685800" y="3000375"/>
          <a:ext xmlns:a="http://schemas.openxmlformats.org/drawingml/2006/main" cx="138684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3143250"/>
                <a:gridCol w="5581650"/>
              </a:tblGrid>
              <a:tr h="845344"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Статья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План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Основание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845344"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Новые устройства и платные подписки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0 ₽ в базовом сценарии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Используем имеющуюся технику и бесплатные базовые инструменты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845344"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Оплата труда и вознаграждения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0 ₽ выплат, 234 ч работ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Учебный проект и добровольное участие. Рыночная оценка труда не выполнена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845344"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F1 · Операционный резерв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Лимит 3 000 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Носитель, дополнительная связь или непредвиденные траты. ИСР 2.2, 4.2–4.4, 5.5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1AAB4-C37F-4526-BD1A-3D50E498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00850"/>
            <a:ext cx="13868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3 000 ₽ — предложенный лимит, а не подтверждённая смета или цена услуги. Перед покупкой Мария проверяет актуальную цену, фиксирует расход и остаток. Если лимита недостаточно, команда пересматривает бюджет.</a:t>
            </a:r>
          </a:p>
        </p:txBody>
      </p:sp>
    </p:spTree>
    <p:extLst>
      <p:ext uri="{BB962C8B-B14F-4D97-AF65-F5344CB8AC3E}">
        <p14:creationId xmlns:p14="http://schemas.microsoft.com/office/powerpoint/2010/main" val="13860996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62D6A-B44B-440B-B820-9C9B2157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49DA3-29E7-49D3-B584-4E98BA1A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D1–D2: время и резерв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F369C-6DC8-4233-9288-B597D12D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54 рабочих дня, 11 недель, 04.11 исключён. Часы по дням распределяются гибко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2C0BC-FD48-462D-B19A-7C58C87C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Ресурсная карта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0BAAD-50EB-427A-89E8-7D1D09C6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C2FA0-9C1D-4471-B8D9-71E3DEDE7894}"/>
              </a:ext>
            </a:extLst>
          </p:cNvPr>
          <p:cNvGraphicFramePr/>
          <p:nvPr/>
        </p:nvGraphicFramePr>
        <p:xfrm>
          <a:off xmlns:a="http://schemas.openxmlformats.org/drawingml/2006/main" x="685800" y="2952750"/>
          <a:ext xmlns:a="http://schemas.openxmlformats.org/drawingml/2006/main" cx="13868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3905250"/>
                <a:gridCol w="5486400"/>
              </a:tblGrid>
              <a:tr h="742950"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Ресурс времени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Расчёт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Назначение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742950"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D1 · Валовая доступность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54 × 4 ч × 2 = 432 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По 216 ч на участника, до 20 ч в полную неделю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742950"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Пакеты ИСР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110 + 124 = 234 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Плановые оценки стабилизации существующего прототипа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742950"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D2 · Сопровождение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20% × 432 = 86,4 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Коммуникация, поддержка и подготовка материалов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742950"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D2 · Нераспределённый резерв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432 − 234 − 86,4 = 111,6 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Ошибки оценок, исправления, повторная приёмка. Включает буфер 24.12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FDCA6-F977-4449-AE09-E3972260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67550"/>
            <a:ext cx="13868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Резерв — около 26% доступности. Контрольные точки имеют нулевую длительность и не добавляют часов. Пилот длится 14 календарных дней, поддержка — в рабочие дни.</a:t>
            </a:r>
          </a:p>
        </p:txBody>
      </p:sp>
    </p:spTree>
    <p:extLst>
      <p:ext uri="{BB962C8B-B14F-4D97-AF65-F5344CB8AC3E}">
        <p14:creationId xmlns:p14="http://schemas.microsoft.com/office/powerpoint/2010/main" val="12670292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A2528-399B-4A23-A19D-434897A0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7186E-A485-41C5-BBBD-B65C3086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Загрузка Марии и Вики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D3013-9BF3-4981-ACC0-C43F241E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Проверяем доступность по неделям, а не только по общей сумме часов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5EA3F-7C72-4B13-86E3-63189ADA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Ресурсная карта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3867F-31CE-44B1-8020-EAE85BA4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D613B-9E29-4E42-B523-1A3F3FE09FE1}"/>
              </a:ext>
            </a:extLst>
          </p:cNvPr>
          <p:cNvGraphicFramePr/>
          <p:nvPr/>
        </p:nvGraphicFramePr>
        <p:xfrm>
          <a:off xmlns:a="http://schemas.openxmlformats.org/drawingml/2006/main" x="685800" y="2952750"/>
          <a:ext xmlns:a="http://schemas.openxmlformats.org/drawingml/2006/main" cx="13868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3143250"/>
                <a:gridCol w="3143250"/>
                <a:gridCol w="3295650"/>
              </a:tblGrid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Период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Мария, ч работ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Вика, ч работ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Доступно на человека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Н1–Н3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19,0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35,0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60 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12,0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12,0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16 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Н5–Н7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48,0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40,0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60 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Н8–Н9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11,0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19,0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40 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9,0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9,0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20 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Н11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11,0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9,0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20 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BF0BB-B239-479B-BF34-4F8770C9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86625"/>
            <a:ext cx="1386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Максимум часов пакетов за неделю: Мария 18 ч, Вика 19 ч. В неделю 02.11 доступно по 16 ч. Сопровождение размещаем в свободных часах. Если занятость ниже, пересчитываем календарь или объём.</a:t>
            </a:r>
          </a:p>
        </p:txBody>
      </p:sp>
    </p:spTree>
    <p:extLst>
      <p:ext uri="{BB962C8B-B14F-4D97-AF65-F5344CB8AC3E}">
        <p14:creationId xmlns:p14="http://schemas.microsoft.com/office/powerpoint/2010/main" val="17218647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673F2-E6ED-4968-9550-1DDB878F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A636B-FB1B-4AD6-8D12-FC538873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Ресурсы ИСР: исследование и ядро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70AA1-D3F0-4DD8-9AEE-EB864A6D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H1, H2, D1 и D2 относятся ко всем пакетам. Остальные ресурсы указаны по кодам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D714A-3911-43B9-BC26-18CECFE8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Ресурсная карта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44A74-CD0C-4042-9F0E-41A55DFE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12E52-D40D-418D-B87D-2E67AC08CF3A}"/>
              </a:ext>
            </a:extLst>
          </p:cNvPr>
          <p:cNvGraphicFramePr/>
          <p:nvPr/>
        </p:nvGraphicFramePr>
        <p:xfrm>
          <a:off xmlns:a="http://schemas.openxmlformats.org/drawingml/2006/main" x="685800" y="2952750"/>
          <a:ext xmlns:a="http://schemas.openxmlformats.org/drawingml/2006/main" cx="138684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2381250"/>
                <a:gridCol w="2190750"/>
                <a:gridCol w="4438650"/>
              </a:tblGrid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Код и пакет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Период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Мария / Вика, 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Ресурсы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1.1 Паспорт проекта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12.10–14.10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 / 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S3, I3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1.2 Спрос и альтернативы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15.10–23.10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 / 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H3, S3, I1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1.3 ИСР и требования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26.10–28.10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6 / 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S2, S3, I2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2.1 Прототип и UX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29.10–06.11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 / 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H3, T1, S3, I1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2.2 Данные и восстановление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29.10–06.11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16 / 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T1, T2, S1, S2, I2, F1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3.1 Задачи и привычки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09.11–20.11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22 / 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T1, S1, S2, I2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DF21B-01E1-437A-A17C-EBD8FF06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15225"/>
            <a:ext cx="1386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Каждый код раскрыт на ресурсных слайдах: наименование, количество, назначение и стоимость. Пакет 5.4 — буфер одного дня, часы исправлений берём из резерва.</a:t>
            </a:r>
          </a:p>
        </p:txBody>
      </p:sp>
    </p:spTree>
    <p:extLst>
      <p:ext uri="{BB962C8B-B14F-4D97-AF65-F5344CB8AC3E}">
        <p14:creationId xmlns:p14="http://schemas.microsoft.com/office/powerpoint/2010/main" val="7884761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C815B-9F84-4806-8A73-D4356551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AC3B6-9479-4ED2-9C3F-8774294F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Ресурсы ИСР: сборка и набор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3B3FF-F04A-4EA7-B49A-69F119EE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H1, H2, D1 и D2 относятся ко всем пакетам. Остальные ресурсы указаны по кодам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2C4C8-3E53-4E95-A25D-C6203D46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Ресурсная карта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6588D-1D97-4510-9DE4-D274087D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2EE50-C477-475D-B1AE-192206623BE0}"/>
              </a:ext>
            </a:extLst>
          </p:cNvPr>
          <p:cNvGraphicFramePr/>
          <p:nvPr/>
        </p:nvGraphicFramePr>
        <p:xfrm>
          <a:off xmlns:a="http://schemas.openxmlformats.org/drawingml/2006/main" x="685800" y="2952750"/>
          <a:ext xmlns:a="http://schemas.openxmlformats.org/drawingml/2006/main" cx="138684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2381250"/>
                <a:gridCol w="2190750"/>
                <a:gridCol w="4438650"/>
              </a:tblGrid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Код и пакет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Период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Мария / Вика, 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Ресурсы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3.2 Ручной учёт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09.11–13.11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6 / 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T1, S1, S2, I2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3.3 Команды EVE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16.11–20.11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6 / 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T1, T3, S1, S2, S4, S5, I2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3.4 Интеграция и сборка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23.11–25.11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10 / 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T1, T2, S1, S2, I3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4.1 Приёмка пилота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26.11–27.11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 / 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T1, T3, S1, S4, I2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4.2 Набор участников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16.11–27.11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 / 14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H4, S3, I3, F1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4.3 Установка и активация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30.11–30.11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 / 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H4, T3, T4, I3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CACD4-2C5C-4887-9D2E-6D953CA9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15225"/>
            <a:ext cx="1386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Каждый код раскрыт на ресурсных слайдах: наименование, количество, назначение и стоимость. Пакет 5.4 — буфер одного дня, часы исправлений берём из резерва.</a:t>
            </a:r>
          </a:p>
        </p:txBody>
      </p:sp>
    </p:spTree>
    <p:extLst>
      <p:ext uri="{BB962C8B-B14F-4D97-AF65-F5344CB8AC3E}">
        <p14:creationId xmlns:p14="http://schemas.microsoft.com/office/powerpoint/2010/main" val="16949118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C94FA-CDD0-4814-98FE-F796C788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A4AD8-4164-4EF5-A17B-1A1595A5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Ресурсы ИСР: пилот и завершение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623A6-9171-4F78-8CDE-FEBFE05F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H1, H2, D1 и D2 относятся ко всем пакетам. Остальные ресурсы указаны по кодам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809D9-C87A-4DA7-84C3-797E19C8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Ресурсная карта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1CE5F-4EDE-4900-A27D-F9BC8C00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5D031-AB0D-4952-AAA9-2E6E6A4FB314}"/>
              </a:ext>
            </a:extLst>
          </p:cNvPr>
          <p:cNvGraphicFramePr/>
          <p:nvPr/>
        </p:nvGraphicFramePr>
        <p:xfrm>
          <a:off xmlns:a="http://schemas.openxmlformats.org/drawingml/2006/main" x="685800" y="2952750"/>
          <a:ext xmlns:a="http://schemas.openxmlformats.org/drawingml/2006/main" cx="138684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2381250"/>
                <a:gridCol w="2190750"/>
                <a:gridCol w="4438650"/>
              </a:tblGrid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Код и пакет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Период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Мария / Вика, 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Ресурсы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4.4 Пилот и наблюдение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30.11–13.12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8 / 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H4, T2, T3, T4, S3, I1, I3, F1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5.1 Анализ результатов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14.12–16.12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 / 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S3, I1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5.2 Исправления пилота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17.12–22.12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14 / 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T1, S1, S2, I2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5.3 Повторная проверка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23.12–23.12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 / 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T1, T2, S1, I2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5.4 Резерв завершения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24.12–24.12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0 /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I3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5.5 Решение и документы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25.12–25.12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 / 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T2, S2, S3, I3, F1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0E0FB-A27A-47C1-8E5D-3FE3E999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15225"/>
            <a:ext cx="1386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Каждый код раскрыт на ресурсных слайдах: наименование, количество, назначение и стоимость. Пакет 5.4 — буфер одного дня, часы исправлений берём из резерва.</a:t>
            </a:r>
          </a:p>
        </p:txBody>
      </p:sp>
    </p:spTree>
    <p:extLst>
      <p:ext uri="{BB962C8B-B14F-4D97-AF65-F5344CB8AC3E}">
        <p14:creationId xmlns:p14="http://schemas.microsoft.com/office/powerpoint/2010/main" val="13724193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D42E0-9EA8-41ED-B024-6560FF8E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5205D-19C8-4615-ACCE-371D00EB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Рынок и достоверность расчётов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1DC24-CC6C-41A1-A8F7-361F8BC4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Официальные страницы проверены 14.10.2026, цены платных услуг не использованы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73175-6418-41FA-993C-67DC5C28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Ресурсная карта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CA452-DBC6-4D7C-99FE-7A9410BA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BF18B-3CBD-4D60-8097-3109497FD83D}"/>
              </a:ext>
            </a:extLst>
          </p:cNvPr>
          <p:cNvGraphicFramePr/>
          <p:nvPr/>
        </p:nvGraphicFramePr>
        <p:xfrm>
          <a:off xmlns:a="http://schemas.openxmlformats.org/drawingml/2006/main" x="685800" y="2933700"/>
          <a:ext xmlns:a="http://schemas.openxmlformats.org/drawingml/2006/main" cx="138684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29375"/>
                <a:gridCol w="7439025"/>
              </a:tblGrid>
              <a:tr h="714375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Проверенный факт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Вывод для ресурсной карты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Todoist Beginner: бесплатно, 5 личных проектов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Есть бесплатная альтернатива для задач. Платная подписка в план не включена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TickTick Free: $0, 9 списков, 99 задач на список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Бесплатные планеры повышают требования к удобству нового продукта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Notion Free: €0 за пользователя/месяц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Платный сервис для организации пилота не обязателен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SQLite: public domain. VS Code: официальная лицензия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Локальные базовые инструменты не требуют новых лицензионных платежей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Gemini API: доступ зависит от региона и условий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Облачный разговор опционален. Тариф и доступ проверяем перед включением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F920C-E4B6-4DAE-B62F-3FFB6585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39025"/>
            <a:ext cx="1386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В интервью сравниваем привычные альтернативы. Наличие функций не подтверждает спрос. Покупки, региональная доступность и конкретные лицензии требуют проверки перед использованием.</a:t>
            </a:r>
          </a:p>
        </p:txBody>
      </p:sp>
    </p:spTree>
    <p:extLst>
      <p:ext uri="{BB962C8B-B14F-4D97-AF65-F5344CB8AC3E}">
        <p14:creationId xmlns:p14="http://schemas.microsoft.com/office/powerpoint/2010/main" val="1744441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F2CA6-7803-4EDB-B5CC-4082B9A1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1144F-B4E2-4FED-8312-CF1198D4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Контроль доступности и рисков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2C2BD-B4D1-4E02-9181-A2739F19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Проверка ресурса привязана к сроку и ответственному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50481-242D-4CCC-8D5E-5AD021B1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Ресурсная карта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5D31E-6767-4092-868E-525258F3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888AD-C31A-4EC5-91ED-3FDF85B358A5}"/>
              </a:ext>
            </a:extLst>
          </p:cNvPr>
          <p:cNvGraphicFramePr/>
          <p:nvPr/>
        </p:nvGraphicFramePr>
        <p:xfrm>
          <a:off xmlns:a="http://schemas.openxmlformats.org/drawingml/2006/main" x="685800" y="2952750"/>
          <a:ext xmlns:a="http://schemas.openxmlformats.org/drawingml/2006/main" cx="138684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4953000"/>
                <a:gridCol w="4438650"/>
              </a:tblGrid>
              <a:tr h="730250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Риск или дефицит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Контроль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Действие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73025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Недостаток времени команды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Мария и Вика сверяют остаток часов еженедельно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Убрать необязательные улучшения, пересмотреть объём или срок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73025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Нет техники или носителя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Мария проверяет до 2.2, заёмный ПК — до 26.11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Проверить цену, использовать резерв, повторить восстановление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73025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Недобор пользователей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Вика проверяет список 20.11, итог — 27.11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5 запасных кандидатов, ограничения выборки в отчёте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73025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Потеря данных или сбой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3/3 восстановления, 0 открытых P0/P1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Остановить пилот при P0, Мария исправляет, Вика проверяет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73025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Облачный сервис недоступен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региона, ключа и оплаты до включения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Локальные команды и ручной ввод остаются базовыми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7DAF8-2C79-4BED-AF55-17BB1027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0"/>
            <a:ext cx="1386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Новые функции не используют резерв 24.12. Безопасность данных и обязательную QA-проверку сохраняем при пересмотре объёма.</a:t>
            </a:r>
          </a:p>
        </p:txBody>
      </p:sp>
    </p:spTree>
    <p:extLst>
      <p:ext uri="{BB962C8B-B14F-4D97-AF65-F5344CB8AC3E}">
        <p14:creationId xmlns:p14="http://schemas.microsoft.com/office/powerpoint/2010/main" val="20140298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2445A-417B-4C38-825B-EC8A3E49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73F31-41C1-4886-AA46-30C1582B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Обратная связь и комплект сдачи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20F68-5752-4922-BE4A-FCE47F18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Каждый участник прикрепляет согласованную PDF-презентацию самостоятельно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5B625-3094-4583-B28C-45DDFA5F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Ресурсная карта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DBDCA-8175-4344-A660-31844869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F4AA0-D380-4A78-A84C-405AD06D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Замечания преподавателя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A0420-BA15-4F58-BE26-EE3D15BA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9900"/>
            <a:ext cx="942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Текст замечаний не предоставлен. Конкретные правки не считаем выполненными до получения обратной связи.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FA79E-DA80-4182-A24B-6AA4D7E7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Реестр замечаний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F563D-AAB8-4DB1-A118-1467A86F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52900"/>
            <a:ext cx="942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Точная формулировка, код ИСР, изменение ресурса, ответственный, дата и проверка результата.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19280-1953-431D-A6BA-D5E2368B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Обновление плана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52E17-1744-47F4-AC05-AAF87D48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295900"/>
            <a:ext cx="942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Если меняются количество, доступность или стоимость, одновременно обновляем карту, ИСР, календарь и KPI.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0E0B5-2452-4499-AE4A-CAE889D7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Проверка перед сдачей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CC19C-5842-4CAF-BE00-EC087F30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6438900"/>
            <a:ext cx="942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У всех ресурсов есть имя, количество и связь с ИСР. Допущения видимы, источники указаны, суммы часов согласованы.</a:t>
            </a:r>
          </a:p>
        </p:txBody>
      </p:sp>
    </p:spTree>
    <p:extLst>
      <p:ext uri="{BB962C8B-B14F-4D97-AF65-F5344CB8AC3E}">
        <p14:creationId xmlns:p14="http://schemas.microsoft.com/office/powerpoint/2010/main" val="14694472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0E474-264A-47A6-B577-99A06613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40DB9-F9DE-4793-8763-D7BD54E0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Источники и допущения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E1204-FCB6-4BA6-B455-AB667CED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Основания ресурсной карты и границы достоверности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EA64F-81EA-43C9-B638-8F15C471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Ресурсная карта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695A6-5932-42A1-B19E-123B4A6D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A6598-7011-4278-86EA-F133EE8A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Материалы проекта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94120-E5F7-488A-B5C6-A8E0C29A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65341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Исходная презентация, план работ и проектный план.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PRODUCT.md и requirements.txt подтверждают статус прототипа и технический стек.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Команда: Мария и Вика. Роли, 20 ч в неделю, наличие оборудования и лимит 3 000 ₽ — допущения для согласования.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EE7F3-C54A-4963-8528-2F40C430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33700"/>
            <a:ext cx="653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Официальные источники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85C0A-52AA-4AF7-BA1C-14702ABB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48075"/>
            <a:ext cx="65341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todoist.com/pricing</a:t>
            </a:r>
          </a:p>
          <a:p xmlns:a="http://schemas.openxmlformats.org/drawingml/2006/main">
            <a:pPr algn="l">
              <a:defRPr sz="195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ticktick.com/about/upgrade</a:t>
            </a:r>
          </a:p>
          <a:p xmlns:a="http://schemas.openxmlformats.org/drawingml/2006/main">
            <a:pPr algn="l">
              <a:defRPr sz="195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notion.com/pricing</a:t>
            </a:r>
          </a:p>
          <a:p xmlns:a="http://schemas.openxmlformats.org/drawingml/2006/main">
            <a:pPr algn="l">
              <a:defRPr sz="195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sqlite.org/copyright.html</a:t>
            </a:r>
          </a:p>
          <a:p xmlns:a="http://schemas.openxmlformats.org/drawingml/2006/main">
            <a:pPr algn="l">
              <a:defRPr sz="195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code.visualstudio.com/license</a:t>
            </a:r>
          </a:p>
          <a:p xmlns:a="http://schemas.openxmlformats.org/drawingml/2006/main">
            <a:pPr algn="l">
              <a:defRPr sz="195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ai.google.dev/gemini-api/docs/available-regions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FCEDE-442C-407E-A228-2DA33EC8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05675"/>
            <a:ext cx="13868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Дата проверки источников: 14.10.2026. Рабочая нагрузка: 234 ч. Валовая доступность: 432 ч. Денежные значения отражают дополнительные расходы учебного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13325330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2026-10-14T10:44:52.8750000Z</dcterms:created>
  <dcterms:modified xsi:type="dcterms:W3CDTF">2026-10-14T10:44:52.8750000Z</dcterms:modified>
</coreProperties>
</file>